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2286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37160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B0BEC5"/>
                </a:solidFill>
                <a:latin typeface="Segoe UI"/>
              </a:rPr>
              <a:t>Yapay Zeka Destekli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D4FF"/>
                </a:solidFill>
                <a:latin typeface="Segoe UI"/>
              </a:rPr>
              <a:t>Hibrit Kripto Para Trading Botu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EC5"/>
                </a:solidFill>
                <a:latin typeface="Segoe UI"/>
              </a:rPr>
              <a:t>Bilgisayar Mühendisliği Uygulama Tasarımı  | 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Ahmet Yılmaz  |  Near East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Segoe U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Segoe UI"/>
              </a:rPr>
              <a:t>PyTorch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XGBoost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B86FC"/>
                </a:solidFill>
                <a:latin typeface="Segoe UI"/>
              </a:rPr>
              <a:t>PPO / RL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Segoe UI"/>
              </a:rPr>
              <a:t>Streamlit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6291072"/>
            <a:ext cx="1554480" cy="2926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6309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Segoe UI"/>
              </a:rPr>
              <a:t>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Segoe UI"/>
              </a:rPr>
              <a:t>Sistem Mimarisi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5 Katmanlı Pipeline — Veri'den Karara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16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1  VERİ KATMANI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39903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Binance API (OHLCV) + CoinGecko API  →  SQLite 7 Tablo, 26 MB, ~4 Yıl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39696"/>
            <a:ext cx="11521440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39696"/>
            <a:ext cx="54864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128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Segoe UI"/>
              </a:rPr>
              <a:t>2  ÖZELLİK MÜHENDİSLİĞİ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39572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SMA, EMA, RSI, MACD, Bollinger Bands, ATR, VWAP  →  13+ özellik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0837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36392"/>
            <a:ext cx="11521440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136392"/>
            <a:ext cx="54864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095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3  MODEL KATMANI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392424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LSTM + GRU (Attention)  |  Random Forest  |  XGBoost  →  Ensemble (Stacking)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0050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33088"/>
            <a:ext cx="11521440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133088"/>
            <a:ext cx="54864" cy="8686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6FC"/>
                </a:solidFill>
                <a:latin typeface="Segoe UI"/>
              </a:rPr>
              <a:t>4  PEKİŞTİRMELİ ÖĞRENME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38912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PPO Ajanı  |  Custom Gymnasium Ortamı  |  Risk-Adjusted Ödül Fonksiyonu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0017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29784"/>
            <a:ext cx="11521440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129784"/>
            <a:ext cx="54864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029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5  SUNUM KATMANI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38581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Streamlit Dashboard + Plotly Grafikler  |  CLI (20+ komut)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217920"/>
            <a:ext cx="11521440" cy="50292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6217920"/>
            <a:ext cx="54864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" y="6272784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6492240"/>
            <a:ext cx="113385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Bu 5 katmanı sırayla açıklayın. Her geçişte 'Neden bu sıraya ihtiyaç var?' diye sorulabilir.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9FF14"/>
                </a:solidFill>
                <a:latin typeface="Segoe UI"/>
              </a:rPr>
              <a:t>Veri Toplama &amp; Veritabanı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Binance + CoinGecko  →  SQLite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657600" cy="1828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657600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Segoe UI"/>
              </a:rPr>
              <a:t>Binance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527048"/>
            <a:ext cx="34747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OHLCV Kline verisi
1h / 4h / 1d zaman dilimleri
BTC, ETH, SOL
Public endpoint — API key gerekmez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63240"/>
            <a:ext cx="365760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063240"/>
            <a:ext cx="3657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154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CoinGecko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447288"/>
            <a:ext cx="34747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Market cap, rank, sosyal metrikler
Ek meta özellikler
Ücretsiz plan kullanıldı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17720"/>
            <a:ext cx="3657600" cy="11887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617720"/>
            <a:ext cx="3657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4709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Zaman Kapsamı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00176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~1500 gün ≈ 4 Yıl
~26 MB SQLite dosyası
WAL modu aktif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SQLite Tablo Yapısı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508760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58191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klines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5819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Ham OHLCV — open, high, low, close, volume, open_time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084831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157983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15798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Hesaplanan teknik göstergeler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660904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2734056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73405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Kural tabanlı alım/satım sinyalleri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236976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310128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predictions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3101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Model tahminleri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813048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3886200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trades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8862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Simüle edilmiş işlem kayıtları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4389120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446227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portfolio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4622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Portföy anlık durum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4965192"/>
            <a:ext cx="76809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5038344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metadata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503834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Veri toplama logları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Neden PostgreSQL değil SQLite? WAL modu ne işe yarıyor?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Segoe UI"/>
              </a:rPr>
              <a:t>Teknik Göstergeler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Sıfırdan Implement — Kütüphane Kullanılmadı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7 Gösterge — Formüller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8229600" cy="347472"/>
          </a:xfrm>
          <a:prstGeom prst="rect">
            <a:avLst/>
          </a:prstGeom>
          <a:solidFill>
            <a:srgbClr val="11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721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Gösterge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4721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Formül / Hesaplama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4721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Amaç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01368"/>
            <a:ext cx="82296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892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SMA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89280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Σ(close) /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8928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Trend yönü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68296"/>
            <a:ext cx="8229600" cy="502920"/>
          </a:xfrm>
          <a:prstGeom prst="rect">
            <a:avLst/>
          </a:prstGeom>
          <a:solidFill>
            <a:srgbClr val="13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4597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459736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ewm(span=period, adjust=False)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45973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Yakın zamana ağırlık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35224"/>
            <a:ext cx="82296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026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RSI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02666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100 − 100/(1+EWM_gain/EWM_loss)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0266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Aşırı alım/satım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02151"/>
            <a:ext cx="8229600" cy="502920"/>
          </a:xfrm>
          <a:prstGeom prst="rect">
            <a:avLst/>
          </a:prstGeom>
          <a:solidFill>
            <a:srgbClr val="13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59359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MACD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593591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EMA(12) − EMA(26), sinyal=EMA(9)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359359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Momentum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69080"/>
            <a:ext cx="82296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160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BB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160520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middle±2σ  (σ=rolling std)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41605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Volatilite bantları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636008"/>
            <a:ext cx="8229600" cy="502920"/>
          </a:xfrm>
          <a:prstGeom prst="rect">
            <a:avLst/>
          </a:prstGeom>
          <a:solidFill>
            <a:srgbClr val="13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7274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ATR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4727448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SMA(TrueRange)  TR=max(H-L,|H-pC|,|L-pC|)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47274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Volatilite ölçümü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202935"/>
            <a:ext cx="82296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29437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VWAP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5294375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Σ(TP×V) / Σ(V)  TP=(H+L+C)/3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5294375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Hacim ağırlıklı fiyat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6FC"/>
                </a:solidFill>
                <a:latin typeface="Segoe UI"/>
              </a:rPr>
              <a:t>▌ RSI Kod İzi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32520" y="1417320"/>
            <a:ext cx="3154680" cy="452628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32520" y="1417320"/>
            <a:ext cx="45720" cy="45262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42248" y="1490472"/>
            <a:ext cx="2971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BDBFF"/>
                </a:solidFill>
                <a:latin typeface="Consolas"/>
              </a:rPr>
              <a:t>delta = series.diff()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gain  = delta.where(delta &gt; 0, 0.0)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loss  = (-delta).where(delta &lt; 0, 0.0)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avg_gain = gain.ewm(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alpha=1/period,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min_periods=period,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adjust=False).mean()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avg_loss = loss.ewm(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alpha=1/period,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min_periods=period,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    adjust=False).mean()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rs  = avg_gain / avg_loss</a:t>
            </a:r>
          </a:p>
          <a:p>
            <a:r>
              <a:rPr sz="900">
                <a:solidFill>
                  <a:srgbClr val="ABDBFF"/>
                </a:solidFill>
                <a:latin typeface="Consolas"/>
              </a:rPr>
              <a:t>rsi = 100 - (100 / (1 + rs))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Wilder'ın smoothing yöntemi neden alpha=1/period? SMA ile fark ne?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Segoe UI"/>
              </a:rPr>
              <a:t>Kural Tabanlı Sinyal Üreteci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Ağırlıklı Kombine Karar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Sinyal Ağırlıkları (config.py)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4320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Segoe UI"/>
              </a:rPr>
              <a:t>RSI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%30 Ağırlık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2286000" cy="1645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417320"/>
            <a:ext cx="274320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41732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Segoe UI"/>
              </a:rPr>
              <a:t>MACD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%30 Ağırlık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560320"/>
            <a:ext cx="2286000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417320"/>
            <a:ext cx="274320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417320"/>
            <a:ext cx="2743200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FF14"/>
                </a:solidFill>
                <a:latin typeface="Segoe UI"/>
              </a:rPr>
              <a:t>Bollinger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%20 Ağırlık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2560320"/>
            <a:ext cx="1524000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1417320"/>
            <a:ext cx="274320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1417320"/>
            <a:ext cx="274320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86FC"/>
                </a:solidFill>
                <a:latin typeface="Segoe UI"/>
              </a:rPr>
              <a:t>MA Cross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%20 Ağırlık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81744" y="2560320"/>
            <a:ext cx="1524000" cy="16459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Karar Akışı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40156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Her gösterge  →  [-1 Sat / 0 Bekle / +1 Al]  →  Ağırlıklı toplam  →  Threshold kontrolü  →  Final Sinyal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886200"/>
            <a:ext cx="5486400" cy="201168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86200"/>
            <a:ext cx="45720" cy="20116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3959352"/>
            <a:ext cx="530352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BDBFF"/>
                </a:solidFill>
                <a:latin typeface="Consolas"/>
              </a:rPr>
              <a:t>RSI = 25   → +1 (Al)   × 0.30 = +0.30</a:t>
            </a:r>
          </a:p>
          <a:p>
            <a:r>
              <a:rPr sz="1200">
                <a:solidFill>
                  <a:srgbClr val="ABDBFF"/>
                </a:solidFill>
                <a:latin typeface="Consolas"/>
              </a:rPr>
              <a:t>MACD = ↑   → +1 (Al)   × 0.30 = +0.30</a:t>
            </a:r>
          </a:p>
          <a:p>
            <a:r>
              <a:rPr sz="1200">
                <a:solidFill>
                  <a:srgbClr val="ABDBFF"/>
                </a:solidFill>
                <a:latin typeface="Consolas"/>
              </a:rPr>
              <a:t>BB   = alt → +1 (Al)   × 0.20 = +0.20</a:t>
            </a:r>
          </a:p>
          <a:p>
            <a:r>
              <a:rPr sz="1200">
                <a:solidFill>
                  <a:srgbClr val="ABDBFF"/>
                </a:solidFill>
                <a:latin typeface="Consolas"/>
              </a:rPr>
              <a:t>MA   = ↑   → +1 (Al)   × 0.20 = +0.20</a:t>
            </a:r>
          </a:p>
          <a:p>
            <a:r>
              <a:rPr sz="1200">
                <a:solidFill>
                  <a:srgbClr val="ABDBFF"/>
                </a:solidFill>
                <a:latin typeface="Consolas"/>
              </a:rPr>
              <a:t>─────────────────────────────────────────</a:t>
            </a:r>
          </a:p>
          <a:p>
            <a:r>
              <a:rPr sz="1200">
                <a:solidFill>
                  <a:srgbClr val="ABDBFF"/>
                </a:solidFill>
                <a:latin typeface="Consolas"/>
              </a:rPr>
              <a:t>Toplam = +1.00  →  ✅ GÜÇLÜ ALIM SİNYALİ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886200"/>
            <a:ext cx="5897880" cy="91440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3886200"/>
            <a:ext cx="54864" cy="914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71616" y="3941064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71616" y="4160520"/>
            <a:ext cx="5715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Bu eşik değerlerini (0.30, 0.20) nasıl belirlediniz? Test ettiniz mi?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892040"/>
            <a:ext cx="5897880" cy="1005840"/>
          </a:xfrm>
          <a:prstGeom prst="rect">
            <a:avLst/>
          </a:prstGeom>
          <a:solidFill>
            <a:srgbClr val="00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4892040"/>
            <a:ext cx="54864" cy="10058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71616" y="4946904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9FF14"/>
                </a:solidFill>
                <a:latin typeface="Segoe UI"/>
              </a:rPr>
              <a:t>✔ CEVAP: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1616" y="5166360"/>
            <a:ext cx="57150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FFCC"/>
                </a:solidFill>
                <a:latin typeface="Segoe UI"/>
              </a:rPr>
              <a:t>Finans literatüründe RSI ve MACD trend takibinde en güçlü göstergeler olarak kabul edilir, bu yüzden eşit ve daha yüksek ağırlık aldı. İleride grid search ile optimize edilebilir.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B86FC"/>
                </a:solidFill>
                <a:latin typeface="Segoe UI"/>
              </a:rPr>
              <a:t>Derin Öğrenme: LSTM &amp; GRU +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TimeSeriesNet — 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6FC"/>
                </a:solidFill>
                <a:latin typeface="Segoe UI"/>
              </a:rPr>
              <a:t>▌ Model Akış Şeması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303520" cy="65836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Segoe UI"/>
              </a:rPr>
              <a:t>GİRDİ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51790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[batch × seq=60 × n_features]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12140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86000"/>
            <a:ext cx="5303520" cy="65836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286000"/>
            <a:ext cx="54864" cy="65836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408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Segoe UI"/>
              </a:rPr>
              <a:t>RNN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34086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LSTM veya GRU  |  hidden=128, layers=3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9443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08960"/>
            <a:ext cx="5303520" cy="65836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108960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638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ATTENTION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16382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softmax(Linear→Tanh→Linear) × rnn_output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7673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5303520" cy="65836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54864" cy="65836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867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Segoe UI"/>
              </a:rPr>
              <a:t>FC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98678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Dropout(0.3) → Linear(128→1)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5902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54880"/>
            <a:ext cx="5303520" cy="65836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5488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097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Segoe UI"/>
              </a:rPr>
              <a:t>ÇIKTI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80974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P(fiyat artacak) ∈ [0,1]  via sigmoid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Focal Loss — Sınıf Dengesizliği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463040"/>
            <a:ext cx="5897880" cy="27432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1463040"/>
            <a:ext cx="45720" cy="27432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3328" y="1536192"/>
            <a:ext cx="571500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DBFF"/>
                </a:solidFill>
                <a:latin typeface="Consolas"/>
              </a:rPr>
              <a:t># Focal Loss formülü: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FL = α × (1 - p_t)^γ × BCE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p_t  : modelin doğru sınıf için tahmin ettiği olasılık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γ=2  : kolay örneklerin katkısını bastırır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α=1  : pozitif sınıf ağırlığı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Eğer model örneği kolayca doğru sınıflandırıyorsa: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  p_t yüksek → (1-p_t)^2 küçük → az katkı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Zor örneklerde: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  p_t düşük → (1-p_t)^2 büyük → daha fazla odak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343400"/>
            <a:ext cx="5897880" cy="14630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4407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6FC"/>
                </a:solidFill>
                <a:latin typeface="Segoe UI"/>
              </a:rPr>
              <a:t>LSTM vs GRU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7548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Kapı Sayısı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7548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86FC"/>
                </a:solidFill>
                <a:latin typeface="Segoe UI"/>
              </a:rPr>
              <a:t>3 (forget/input/output)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47548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9FF14"/>
                </a:solidFill>
                <a:latin typeface="Segoe UI"/>
              </a:rPr>
              <a:t>2 (reset/update)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0749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Parametre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0749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86FC"/>
                </a:solidFill>
                <a:latin typeface="Segoe UI"/>
              </a:rPr>
              <a:t>Daha fazla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50749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9FF14"/>
                </a:solidFill>
                <a:latin typeface="Segoe UI"/>
              </a:rPr>
              <a:t>Daha az → hızlı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394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Uzun seq.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53949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86FC"/>
                </a:solidFill>
                <a:latin typeface="Segoe UI"/>
              </a:rPr>
              <a:t>Daha iyi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53949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9FF14"/>
                </a:solidFill>
                <a:latin typeface="Segoe UI"/>
              </a:rPr>
              <a:t>Yakın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Attention olmadan sonuç nasıl değişir? BCEWithLogitsLoss kullanıp inference'da neden sigmoid eklediniz?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9FF14"/>
                </a:solidFill>
                <a:latin typeface="Segoe UI"/>
              </a:rPr>
              <a:t>Klasik ML: Random Forest &amp; 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Tablolu Özellik Vektörleri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577840" cy="23774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5577840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188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Segoe UI"/>
              </a:rPr>
              <a:t>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81328"/>
            <a:ext cx="539496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• N adet karar ağacı → çoğunluk oylaması
• Her ağaç rastgele özellik altümesi kullanır (feature bagging)
• Aşırı öğrenmeye karşı güçlü (bias-variance tradeoff)
• class_weight='balanced' → sınıf dengesizliği
• Feature importance sıralaması mümkün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097280"/>
            <a:ext cx="5577840" cy="23774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097280"/>
            <a:ext cx="55778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1188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1481328"/>
            <a:ext cx="539496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• Gradient boosting: her yeni ağaç öncekinin hatalarını hedefler
• L1 (lasso) + L2 (ridge) düzenlileştirme → daha iyi genelleme
• scale_pos_weight → dengesiz sınıf ağırlığı
• Genellikle tablolu veride LSTM'yi geçer
• Hız avantajı: CPU'da çok hızlı eğitim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ML Girdi Özellikleri (13 özellik)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50208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005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Open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3950208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4005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79" y="3950208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19" y="4005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199" y="3950208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39" y="4005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Close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19" y="3950208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59" y="4005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Volume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8912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443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RSI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438912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4443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MACD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79" y="438912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19" y="4443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MACD_Signal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199" y="438912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39" y="4443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BB_High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19" y="438912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59" y="4443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BB_Low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2803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8828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BB_Mid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482803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48828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SMA_20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79" y="482803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19" y="48828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Segoe UI"/>
              </a:rPr>
              <a:t>EMA_50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120640"/>
            <a:ext cx="11521440" cy="822960"/>
          </a:xfrm>
          <a:prstGeom prst="rect">
            <a:avLst/>
          </a:prstGeom>
          <a:solidFill>
            <a:srgbClr val="0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19379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86FC"/>
                </a:solidFill>
                <a:latin typeface="Segoe UI"/>
              </a:rPr>
              <a:t>DL (LSTM/GRU):  Ham zaman serisi pencereleri  [60 adım × n_features]  →  Sekans bağımlılığı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5321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ML (RF/XGB):    Tek adım özellik vektörü  [13 özellik]  →  Anlık snapshot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LSTM mi yoksa XGBoost mi daha iyi sonuç verdi? Neden ikisinide kullandınız?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Segoe UI"/>
              </a:rPr>
              <a:t>Ensemble: Stacking Modeli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4 Base Model + Gradient Boosting Meta-Learner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Stacking Mimarisi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2651760" cy="10972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265176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B86FC"/>
                </a:solidFill>
                <a:latin typeface="Segoe UI"/>
              </a:rPr>
              <a:t>LSTM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P(↑) ∈ [0,1]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463040"/>
            <a:ext cx="2651760" cy="10972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46304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Segoe UI"/>
              </a:rPr>
              <a:t>GRU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9933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P(↑) ∈ [0,1]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463040"/>
            <a:ext cx="2651760" cy="10972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463040"/>
            <a:ext cx="2651760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9FF14"/>
                </a:solidFill>
                <a:latin typeface="Segoe UI"/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933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P(↑) ∈ [0,1]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3144" y="1463040"/>
            <a:ext cx="2651760" cy="10972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14630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Segoe UI"/>
              </a:rPr>
              <a:t>XGBoost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19933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P(↑) ∈ [0,1]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1864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2880360"/>
            <a:ext cx="5486400" cy="100584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2880360"/>
            <a:ext cx="54864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29626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Segoe UI"/>
              </a:rPr>
              <a:t>Meta-Learner: GradientBoosting Classifier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364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  <a:latin typeface="Segoe UI"/>
              </a:rPr>
              <a:t>Girdi: [lstm_p, gru_p, rf_p, xgb_p]  →  Final Karar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9136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4206240"/>
            <a:ext cx="320040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2519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AL / BEKLE / SAT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00600"/>
            <a:ext cx="11521440" cy="109728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00600"/>
            <a:ext cx="45720" cy="10972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4873752"/>
            <a:ext cx="113385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DBFF"/>
                </a:solidFill>
                <a:latin typeface="Consolas"/>
              </a:rPr>
              <a:t># Neden Stacking?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LSTM   → uzun vadeli zaman bağımlılıkları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GRU    → kısa-orta vadeli sekans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RF     → sınıf sınırlarını ağaçla yakalar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XGBoost→ özellik etkileşimlerini gradient ile öğrenir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Meta-learner: hangi model ne zaman güvenilir? → öğrenir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Sonuç: tek modelden daha düşük varyans (bias-variance)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Inference sırasında neden BCEWithLogitsLoss sonrası sigmoid eklediniz? Eklemeseydik ne olurdu?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Segoe UI"/>
              </a:rPr>
              <a:t>Pekiştirmeli Öğrenme: PPO Ajanı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Custom Gymnasium Ortamı + Risk-Adjusted Ödül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TradingEnv — Ortam Tasarımı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30352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453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Aksiyon Uzayı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54533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Discrete(3) — 0=Sat  1=Bekle  2=Al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530352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939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Gözlem Uzayı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9397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Box(10,) — Sürekli değerler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60320"/>
            <a:ext cx="530352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426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Başlangıç Bakiye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6426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$10,000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08960"/>
            <a:ext cx="530352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İşlem Ücreti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19125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%0.1 per trade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730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10 Gözlem Özelliği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11480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4169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bakiye / initial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11480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4169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net_worth / initial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79" y="411480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6631" y="4169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meta_sinyal_prob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199" y="411480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1" y="4169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normalize_fiyat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19" y="4114800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1" y="4169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RSI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5371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608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MACD_signal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55371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24912" y="4608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5g_fiyat_değişimi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479" y="455371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6631" y="4608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20g_volatilite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199" y="455371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8351" y="4608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hacim_oranı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19" y="4553712"/>
            <a:ext cx="2148840" cy="34747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0071" y="4608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Segoe UI"/>
              </a:rPr>
              <a:t>pozisyon_oranı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1463040"/>
            <a:ext cx="5897880" cy="36576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1463040"/>
            <a:ext cx="45720" cy="36576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3328" y="1536192"/>
            <a:ext cx="571500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DBFF"/>
                </a:solidFill>
                <a:latin typeface="Consolas"/>
              </a:rPr>
              <a:t># Ödül Fonksiyonu (3 Bileşen)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delta = (net_worth - prev_worth) / initial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drawdown = (max_worth - net_worth) / max_worth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trade_pen = 0.001 if action != HOLD else 0.0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reward = delta - 0.5*drawdown - trade_pen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Neden PPO?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DQN: Q-value, ayrık aksiyonlar — sample inefficient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A3C: paralel ortam gerektirir — karmaşık setup</a:t>
            </a:r>
          </a:p>
          <a:p>
            <a:r>
              <a:rPr sz="1000">
                <a:solidFill>
                  <a:srgbClr val="ABDBFF"/>
                </a:solidFill>
                <a:latin typeface="Consolas"/>
              </a:rPr>
              <a:t># PPO: on-policy, clipped objective — KARALI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Ödül fonksiyonunda neden drawdown cezası var? Sadece kar maksimize etmek yetmez miydi?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B86FC"/>
                </a:solidFill>
                <a:latin typeface="Segoe UI"/>
              </a:rPr>
              <a:t>Overfitting Önlemleri &amp; Kritik Tasarım Kararları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Gerçek Uygulama Zorlukları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6FC"/>
                </a:solidFill>
                <a:latin typeface="Segoe UI"/>
              </a:rPr>
              <a:t>▌ Overfitting'e Karşı Alınan Önlemler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1521440" cy="685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54864" cy="6858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36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Segoe UI"/>
              </a:rPr>
              <a:t>DL Modeller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5361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Dropout %30 · Early Stopping · Train/Val/Test split zaman sıralı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67712"/>
            <a:ext cx="11521440" cy="685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267712"/>
            <a:ext cx="54864" cy="6858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408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Segoe UI"/>
              </a:rPr>
              <a:t>ML Modeller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340864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TimeSeriesSplit CV (shuffle yok!) · max_depth kısıtı · n_estimators limiti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72384"/>
            <a:ext cx="11521440" cy="685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072384"/>
            <a:ext cx="54864" cy="6858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455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Segoe UI"/>
              </a:rPr>
              <a:t>RL Ajanı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14553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Train=BTC verisi · Val=ETH · Test=SOL  (farklı coin → genelleme testi)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77056"/>
            <a:ext cx="11521440" cy="6858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877056"/>
            <a:ext cx="54864" cy="6858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50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Segoe UI"/>
              </a:rPr>
              <a:t>Veri Ölçekleme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9502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scaler.fit(X_train) ONLY — test'e sadece .transform()  (look-ahead bias önlemi)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Karşılaşılan Kritik Hata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20640"/>
            <a:ext cx="7315200" cy="109728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120640"/>
            <a:ext cx="45720" cy="10972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5193792"/>
            <a:ext cx="7132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DBFF"/>
                </a:solidFill>
                <a:latin typeface="Consolas"/>
              </a:rPr>
              <a:t># YANLIŞ (look-ahead bias):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scaler.fit_transform(X_all)   # ← test istatistikleri eğitime sızar!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# DOĞRU: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scaler.fit(X_train)           # sadece train üzerinde fit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X_train = scaler.transform(X_train)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X_test  = scaler.transform(X_test)   # sadece transform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5120640"/>
            <a:ext cx="3977639" cy="109728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5120640"/>
            <a:ext cx="54864" cy="10972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5175504"/>
            <a:ext cx="3794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5394960"/>
            <a:ext cx="379475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Look-ahead bias neden bu kadar kritik? Ölçekleme sırası neden önemli?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Segoe UI"/>
              </a:rPr>
              <a:t>Bilinen Sorunlar &amp; Kısıtlamalar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Dürüst Değerlendirme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11521440" cy="117043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54864" cy="1170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52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Sınıf Dengesizliği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⚠  LSTM çoğunluk sınıfa (HOLD) bias gösteriyor. Fiyat 'büyük hareket' günleri azınlık sınıf.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152144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9FF14"/>
                </a:solidFill>
                <a:latin typeface="Segoe UI"/>
              </a:rPr>
              <a:t>✔  Focal Loss (γ=2), class_weight='balanced' (RF), scale_pos_weight (XGBoost)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95728"/>
            <a:ext cx="11521440" cy="117043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395728"/>
            <a:ext cx="54864" cy="1170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50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RL Overfitting Riski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16352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⚠  SOL simülasyonunda %4000+ getiri → gerçekte bu kadar yüksek olmaz. Backtest optimizm yanılsaması.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50592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9FF14"/>
                </a:solidFill>
                <a:latin typeface="Segoe UI"/>
              </a:rPr>
              <a:t>✔  Farklı coin ile out-of-sample test. Gerçek trading'de paper trading zorunlu.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94176"/>
            <a:ext cx="11521440" cy="117043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694176"/>
            <a:ext cx="54864" cy="117043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49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Segoe UI"/>
              </a:rPr>
              <a:t>Look-Ahead 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⚠  Veri önişlemede scaler tüm sete fit edilirse gelecek bilgisi sızar → yanlış sonuç.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7490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9FF14"/>
                </a:solidFill>
                <a:latin typeface="Segoe UI"/>
              </a:rPr>
              <a:t>✔  scaler.fit() sadece train setine uygulandı. TimeSeriesSplit kullanıldı.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992624"/>
            <a:ext cx="11521440" cy="1170432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992624"/>
            <a:ext cx="54864" cy="1170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İşlem Maliyetleri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13248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⚠  Simülasyonda %0.1 sabit ücret → gerçekte spread, slippage ve vergi de var.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04748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9FF14"/>
                </a:solidFill>
                <a:latin typeface="Segoe UI"/>
              </a:rPr>
              <a:t>✔  Daha gerçekçi maliyet modeli veya gerçek broker API ile paper trading.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RL'de %4000 getiri gördünüzde ne düşündünüz? Bu sonuç gerçekçi mi?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9FF14"/>
                </a:solidFill>
                <a:latin typeface="Segoe UI"/>
              </a:rPr>
              <a:t>Dashboard &amp; Test Paketi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Streamlit + 8 Kategorili 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Segoe UI"/>
              </a:rPr>
              <a:t>▌ Streamlit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Gerçek zamanlı mum grafikleri (Plotly)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84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8424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Bollinger Bands, RSI, MACD overlay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6829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682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Model olasılık dağılımı gösterimi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5234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5234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Portföy performans takibi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3639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3639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Eğitim loss/accuracy eğrileri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CLI — 20+ Komut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754880"/>
            <a:ext cx="5486400" cy="192024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754880"/>
            <a:ext cx="45720" cy="19202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4828032"/>
            <a:ext cx="530352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DBFF"/>
                </a:solidFill>
                <a:latin typeface="Consolas"/>
              </a:rPr>
              <a:t>python main.py collect      # Veri topla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indicators   # Gösterge hesapla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train-dl     # DL modeli eğit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train-rl     # PPO ajanı eğit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ensemble     # Ensemble çalıştır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dashboard    # Web UI başlat</a:t>
            </a:r>
          </a:p>
          <a:p>
            <a:r>
              <a:rPr sz="1100">
                <a:solidFill>
                  <a:srgbClr val="ABDBFF"/>
                </a:solidFill>
                <a:latin typeface="Consolas"/>
              </a:rPr>
              <a:t>python main.py test         # Tüm testleri çalıştır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8 Kategorili Test Paketi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46304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46304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53619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5179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Veri toplama testi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1517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API bağlantısı + kayıt kontrolü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05740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205740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21305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1122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Veritabanı bütünlük testi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1122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Tablo şeması + FK kontrolleri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65176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265176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272491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7066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Gösterge hesaplama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7066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Formül doğruluğu, NaN kontrolü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324612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89320" y="324612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331927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3009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Sinyal üreteci testi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33009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Ağırlıklı karar doğruluğu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84048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384048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89320" y="391363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8953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ML model yükleme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8953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pkl dosyası + predict_proba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443484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89320" y="443484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9320" y="450799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4897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DL model inference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44897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pth dosyası + sigmoid çıktı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502920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89320" y="502920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89320" y="51023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50840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RL ortam testi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50840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Gymnasium reset/step doğrulama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5623560"/>
            <a:ext cx="5897880" cy="512064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89320" y="5623560"/>
            <a:ext cx="292608" cy="5120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9320" y="569671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56784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Ensemble pipeline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56784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4 model + meta-learner uçtan uca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Test sırasında karşılaştığınız en ilginç hata neydi? Nasıl çözdünüz?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Segoe UI"/>
              </a:rPr>
              <a:t>Sonuçlar &amp; Gelecek Çalışmalar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Segoe UI"/>
              </a:rPr>
              <a:t>Öğrenilenler ve Sınırlar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Elde Edilen Başarılar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4 yıllık BTC/ETH/SOL verisi ile 4 farklı modeli birleştiren hibrit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84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842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Sıfırdan implement edilen teknik göstergeler (pandas/numpy)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6829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682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Focal Loss ile sınıf dengesizliği sorununa pratik çözüm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5234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523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Attention mekanizması ile LSTM/GRU'nun açıklanabilirliği artırıldı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3639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  <a:latin typeface="Segoe U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3639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Risk-adjusted ödül fonksiyonu ile RL ajanı aşırı risk almaktan caydırıldı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▌ Teknik Öğrenilenler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6002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002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Look-ahead bias: ML pipeline sırasının kritikliği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984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842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BCEWithLogitsLoss → inference'da sigmoid şart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36829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682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TimeSeriesSplit: shuffle etmeden CV zorunluluğu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75234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523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WAL modu: SQLite'da eş zamanlı okuma/yazma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13639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13639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RL ödül tasarımı: tek metrik yetmez, ceza gerek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▌ Gelecek Çalışmalar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709160"/>
            <a:ext cx="5577840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709160"/>
            <a:ext cx="54864" cy="47548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8006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Transformer / Temporal Fusion Transformer mimarisi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709160"/>
            <a:ext cx="5577840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709160"/>
            <a:ext cx="54864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8006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Gerçek zamanlı paper trading (canlı API entegrasyonu)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276088"/>
            <a:ext cx="5577840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5276088"/>
            <a:ext cx="54864" cy="4754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3675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Haber sentiment analizi (NLP + fiyat)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276088"/>
            <a:ext cx="5577840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5276088"/>
            <a:ext cx="54864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3675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Multi-asset portföy optimizasyonu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144768"/>
            <a:ext cx="11521440" cy="548640"/>
          </a:xfrm>
          <a:prstGeom prst="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6144768"/>
            <a:ext cx="54864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" y="61996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0"/>
                </a:solidFill>
                <a:latin typeface="Segoe UI"/>
              </a:rPr>
              <a:t>⚡ JÜRİ SORUSU: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" y="6419088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ED80"/>
                </a:solidFill>
                <a:latin typeface="Segoe UI"/>
              </a:rPr>
              <a:t>Bu projeyi production'a almak için ne gerekir? En büyük risk faktörü nedir?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2743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37160" cy="2743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D4FF"/>
                </a:solidFill>
                <a:latin typeface="Segoe UI"/>
              </a:rPr>
              <a:t>Teşekkürler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Sorularınız için hazırım.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Segoe UI"/>
              </a:rPr>
              <a:t>Ahmet Yılmaz  |  Near East University  |  Bilgisayar Mühendisliği  |  2025–2026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07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Segoe UI"/>
              </a:rPr>
              <a:t>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2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B86FC"/>
                </a:solidFill>
                <a:latin typeface="Segoe UI"/>
              </a:rPr>
              <a:t>PyTorch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Segoe UI"/>
              </a:rPr>
              <a:t>XGBoost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Segoe UI"/>
              </a:rPr>
              <a:t>PPO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Segoe UI"/>
              </a:rPr>
              <a:t>Streamlit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Segoe UI"/>
              </a:rPr>
              <a:t>SQLite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Segoe UI"/>
              </a:rPr>
              <a:t>Gymnasium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5440680"/>
            <a:ext cx="128016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5276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B86FC"/>
                </a:solidFill>
                <a:latin typeface="Segoe UI"/>
              </a:rPr>
              <a:t>pandas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