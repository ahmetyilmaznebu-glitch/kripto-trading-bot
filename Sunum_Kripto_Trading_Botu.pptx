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09728" cy="4114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2286000"/>
            <a:ext cx="54864" cy="4114800"/>
          </a:xfrm>
          <a:prstGeom prst="rect">
            <a:avLst/>
          </a:prstGeom>
          <a:solidFill>
            <a:srgbClr val="374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8899AA"/>
                </a:solidFill>
              </a:rPr>
              <a:t>Yapay Zeka Destekli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Hibrit Kripto Para Trading Botu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AA"/>
                </a:solidFill>
              </a:rPr>
              <a:t>Derin Öğrenme  ·  Makine Öğrenmesi  ·  Pekiştirmeli Öğrenme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3749039"/>
            <a:ext cx="11731752" cy="19050"/>
          </a:xfrm>
          <a:prstGeom prst="rect">
            <a:avLst/>
          </a:prstGeom>
          <a:solidFill>
            <a:srgbClr val="374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Ahmet Yılmaz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Bilgisayar Mühendisliği Uygulama Tasarımı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AA"/>
                </a:solidFill>
              </a:rPr>
              <a:t>Near East University  —  2025–2026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İçindekiler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2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01  Problem &amp; Motivasyon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996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02  Sistem Mimarisi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977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03  Veri Toplama &amp; Veritabanı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9584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04  Teknik Göstergeler &amp; Sinyal Üretimi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7939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05  Özellik Mühendisliği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06  Derin Öğrenme — LSTM/GRU + 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07  Klasik ML — RF &amp; 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2996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08  Ensemble Yığma Meta-Modeli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7977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09  Pekiştirmeli Öğrenme — PPO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529584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10  Backtest &amp; Sonuçlar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27939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11  Düzeltilen Hatalar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029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12  Sonuç &amp; Gelecek Çalışmalar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&amp; Motivasyon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Neden bu proje?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7132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CCDDEE"/>
                </a:solidFill>
              </a:rPr>
              <a:t>▸  Kripto para piyasaları 7/24 işlem görür — insan takibi yetersiz kalır</a:t>
            </a:r>
          </a:p>
          <a:p>
            <a:pPr algn="l"/>
            <a:r>
              <a:rPr sz="1700">
                <a:solidFill>
                  <a:srgbClr val="CCDDEE"/>
                </a:solidFill>
              </a:rPr>
              <a:t>▸  Geleneksel teknik analiz tek başına yetersiz: piyasa rejimi değişimleri</a:t>
            </a:r>
          </a:p>
          <a:p>
            <a:pPr algn="l"/>
            <a:r>
              <a:rPr sz="1700">
                <a:solidFill>
                  <a:srgbClr val="CCDDEE"/>
                </a:solidFill>
              </a:rPr>
              <a:t>▸  Her AI yaklaşımının kendine özgü güçlü ve zayıf yönleri vardır</a:t>
            </a:r>
          </a:p>
          <a:p>
            <a:pPr algn="l"/>
            <a:r>
              <a:rPr sz="1700">
                <a:solidFill>
                  <a:srgbClr val="CCDDEE"/>
                </a:solidFill>
              </a:rPr>
              <a:t>▸  Klasik ML zamansal örüntüyü tam yakalayamaz</a:t>
            </a:r>
          </a:p>
          <a:p>
            <a:pPr algn="l"/>
            <a:r>
              <a:rPr sz="1700">
                <a:solidFill>
                  <a:srgbClr val="CCDDEE"/>
                </a:solidFill>
              </a:rPr>
              <a:t>▸  DL sınıf dengesizliğine duyarlıdır</a:t>
            </a:r>
          </a:p>
          <a:p>
            <a:pPr algn="l"/>
            <a:r>
              <a:rPr sz="1700">
                <a:solidFill>
                  <a:srgbClr val="CCDDEE"/>
                </a:solidFill>
              </a:rPr>
              <a:t>▸  RL tek başına metaya göre kör kalır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solidFill>
            <a:srgbClr val="042A44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</a:rPr>
              <a:t>Çözüm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01168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Teknik Analiz + Derin Öğrenme + Klasik ML + Pekiştirmeli Öğrenme'yi tek mimaride birleştiren hibrit sistem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749039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A502"/>
                </a:solidFill>
              </a:rPr>
              <a:t>→ Her modelin zayıf noktasını
   diğerleri kapatır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 Kapsamı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4 /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280160"/>
          <a:ext cx="9144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Kriter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Değer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Takip edilen coinler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BTC · ETH · SOL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Veri kaynakları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Binance API + CoinGecko API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Tarihsel veri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~4 yıl (1500 gün)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Zaman dilimleri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1 saatlik · 4 saatlik · Günlük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Toplam veri boyutu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~26 MB (SQLite)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Programlama dili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Python 3.14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Derin öğrenme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PyTorch 2.0+ (CUDA destekli)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RL framework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Stable-Baselines3 — PPO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Sistem Mimarisi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Katmanlı &amp; modüler yapı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5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566928"/>
          </a:xfrm>
          <a:prstGeom prst="rect">
            <a:avLst/>
          </a:prstGeom>
          <a:solidFill>
            <a:srgbClr val="092842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075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VERİ TOPLAMA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32588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Binance API  +  CoinGecko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11247120" cy="566928"/>
          </a:xfrm>
          <a:prstGeom prst="rect">
            <a:avLst/>
          </a:prstGeom>
          <a:solidFill>
            <a:srgbClr val="092842"/>
          </a:solidFill>
          <a:ln>
            <a:solidFill>
              <a:srgbClr val="374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391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42FA"/>
                </a:solidFill>
              </a:rPr>
              <a:t>SQLite VERİTABANI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5740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7 tablo  ·  26 MB  ·  ~4 yıl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11247120" cy="566928"/>
          </a:xfrm>
          <a:prstGeom prst="rect">
            <a:avLst/>
          </a:prstGeom>
          <a:solidFill>
            <a:srgbClr val="092842"/>
          </a:solidFill>
          <a:ln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70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2"/>
                </a:solidFill>
              </a:rPr>
              <a:t>ÖN İŞLEME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889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Temizleme · Normalleştirme · Özellik Mühendisliği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29000"/>
            <a:ext cx="2286000" cy="914400"/>
          </a:xfrm>
          <a:prstGeom prst="rect">
            <a:avLst/>
          </a:prstGeom>
          <a:solidFill>
            <a:srgbClr val="072238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AA"/>
                </a:solidFill>
              </a:rPr>
              <a:t>LSTM / GRU
+ Attention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3429000"/>
            <a:ext cx="2286000" cy="914400"/>
          </a:xfrm>
          <a:prstGeom prst="rect">
            <a:avLst/>
          </a:prstGeom>
          <a:solidFill>
            <a:srgbClr val="072238"/>
          </a:solidFill>
          <a:ln>
            <a:solidFill>
              <a:srgbClr val="374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353872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742FA"/>
                </a:solidFill>
              </a:rPr>
              <a:t>RF / XGBoost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429000"/>
            <a:ext cx="2286000" cy="914400"/>
          </a:xfrm>
          <a:prstGeom prst="rect">
            <a:avLst/>
          </a:prstGeom>
          <a:solidFill>
            <a:srgbClr val="072238"/>
          </a:solidFill>
          <a:ln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53872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2"/>
                </a:solidFill>
              </a:rPr>
              <a:t>Ensemble
Meta-Model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3429000"/>
            <a:ext cx="2286000" cy="914400"/>
          </a:xfrm>
          <a:prstGeom prst="rect">
            <a:avLst/>
          </a:prstGeom>
          <a:solidFill>
            <a:srgbClr val="072238"/>
          </a:solidFill>
          <a:ln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53872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757"/>
                </a:solidFill>
              </a:rPr>
              <a:t>PPO RL Ajanı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11247120" cy="566928"/>
          </a:xfrm>
          <a:prstGeom prst="rect">
            <a:avLst/>
          </a:prstGeom>
          <a:solidFill>
            <a:srgbClr val="092842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6451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BACKTEST &amp;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663440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Matplotlib · Plotly · Streamlit · Performans Metrikleri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Veri Toplama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Çift kaynaklı API entegrasyonu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6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AA"/>
                </a:solidFill>
              </a:rPr>
              <a:t>Binance 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CCDDEE"/>
                </a:solidFill>
              </a:rPr>
              <a:t>▸  OHLCV kline verisi (open/high/low/close/volume)</a:t>
            </a:r>
          </a:p>
          <a:p>
            <a:pPr algn="l"/>
            <a:r>
              <a:rPr sz="1600">
                <a:solidFill>
                  <a:srgbClr val="CCDDEE"/>
                </a:solidFill>
              </a:rPr>
              <a:t>▸  Rate limiting: 1200 istek / dakika</a:t>
            </a:r>
          </a:p>
          <a:p>
            <a:pPr algn="l"/>
            <a:r>
              <a:rPr sz="1600">
                <a:solidFill>
                  <a:srgbClr val="CCDDEE"/>
                </a:solidFill>
              </a:rPr>
              <a:t>▸  Üstel geri çekilme ile otomatik yeniden deneme</a:t>
            </a:r>
          </a:p>
          <a:p>
            <a:pPr algn="l"/>
            <a:r>
              <a:rPr sz="1600">
                <a:solidFill>
                  <a:srgbClr val="CCDDEE"/>
                </a:solidFill>
              </a:rPr>
              <a:t>▸  WebSocket ile gerçek zamanlı fiyat akışı</a:t>
            </a:r>
          </a:p>
          <a:p>
            <a:pPr algn="l"/>
            <a:r>
              <a:rPr sz="1600">
                <a:solidFill>
                  <a:srgbClr val="CCDDEE"/>
                </a:solidFill>
              </a:rPr>
              <a:t>▸  1h · 4h · 1d zaman dilimleri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742FA"/>
                </a:solidFill>
              </a:rPr>
              <a:t>CoinGecko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CCDDEE"/>
                </a:solidFill>
              </a:rPr>
              <a:t>▸  Piyasa değeri, ATH, dolaşımdaki arz</a:t>
            </a:r>
          </a:p>
          <a:p>
            <a:pPr algn="l"/>
            <a:r>
              <a:rPr sz="1600">
                <a:solidFill>
                  <a:srgbClr val="CCDDEE"/>
                </a:solidFill>
              </a:rPr>
              <a:t>▸  Günlük 24s değişim &amp; hacim</a:t>
            </a:r>
          </a:p>
          <a:p>
            <a:pPr algn="l"/>
            <a:r>
              <a:rPr sz="1600">
                <a:solidFill>
                  <a:srgbClr val="CCDDEE"/>
                </a:solidFill>
              </a:rPr>
              <a:t>▸  Ücretsiz plan: 30 istek / dakika</a:t>
            </a:r>
          </a:p>
          <a:p>
            <a:pPr algn="l"/>
            <a:r>
              <a:rPr sz="1600">
                <a:solidFill>
                  <a:srgbClr val="CCDDEE"/>
                </a:solidFill>
              </a:rPr>
              <a:t>▸  Binance ile tamamlayıcı fundamentals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029200"/>
            <a:ext cx="11731752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ECC71"/>
                </a:solidFill>
              </a:rPr>
              <a:t>✔  Kopuk zaman dilimlerini otomatik tespit</a:t>
            </a:r>
          </a:p>
          <a:p>
            <a:pPr algn="l"/>
            <a:r>
              <a:rPr sz="1500">
                <a:solidFill>
                  <a:srgbClr val="2ECC71"/>
                </a:solidFill>
              </a:rPr>
              <a:t>✔  INSERT OR IGNORE ile tekrar kayıt önleme</a:t>
            </a:r>
          </a:p>
          <a:p>
            <a:pPr algn="l"/>
            <a:r>
              <a:rPr sz="1500">
                <a:solidFill>
                  <a:srgbClr val="2ECC71"/>
                </a:solidFill>
              </a:rPr>
              <a:t>✔  fetch_log tablosunda tüm API çağrıları izlenir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Veritabanı Yapısı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SQLite — 7 tablo · WAL modu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7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34440"/>
          <a:ext cx="116128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65151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Tablo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İçerik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Anahtar Sütunlar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klines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OHLCV mum verisi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symbol · interval · open_time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price_snapshots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Anlık fiyat + 24s istatistikleri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symbol · timestamp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market_data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CoinGecko piyasa verileri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symbol · fetched_at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fetch_log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API çağrı geçmişi ve durum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source · endpoint · status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indicators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Hesaplanmış teknik göstergeler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symbol · interval · open_time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signals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BUY / SELL / HOLD sinyalleri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symbol · interval · open_time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predictions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Model tahminleri &amp; güven skorları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symbol · model · timestamp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Teknik Göstergeler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7 temel gösterge · indicators.py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8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34440"/>
          <a:ext cx="10881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Gösterge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Periyot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Amaç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SMA (Basit Hareketli Ortalama)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20, 50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Trend tespiti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EMA (Üstel HO)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20, 50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Ağırlıklı trend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RSI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Aşırı alım/satım (eşik: 30/70)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MACD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12-26-9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Momentum &amp; dönüş sinyali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Bollinger Bands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20, σ=2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Volatilite &amp; destek/direnç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ATR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Volatilite ölçümü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VWAP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Günlük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Hacim-ağırlıklı ortalama fiyat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Sinyal Üretimi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5 bağımsız strateji + ağırlıklı birleşim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9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0607040" cy="868680"/>
          </a:xfrm>
          <a:prstGeom prst="rect">
            <a:avLst/>
          </a:prstGeom>
          <a:solidFill>
            <a:srgbClr val="072238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72184"/>
            <a:ext cx="777240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D1B2A"/>
                </a:solidFill>
              </a:rPr>
              <a:t>%30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8930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RSI Sinyali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916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RSI &lt; 30 → BUY  |  RSI &gt; 70 → SELL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10607040" cy="868680"/>
          </a:xfrm>
          <a:prstGeom prst="rect">
            <a:avLst/>
          </a:prstGeom>
          <a:solidFill>
            <a:srgbClr val="072238"/>
          </a:solidFill>
          <a:ln>
            <a:solidFill>
              <a:srgbClr val="374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23744"/>
            <a:ext cx="777240" cy="347472"/>
          </a:xfrm>
          <a:prstGeom prst="rect">
            <a:avLst/>
          </a:prstGeom>
          <a:solidFill>
            <a:srgbClr val="374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D1B2A"/>
                </a:solidFill>
              </a:rPr>
              <a:t>%30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4086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42FA"/>
                </a:solidFill>
              </a:rPr>
              <a:t>MACD Sinyali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4320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MACD çizgisi sinyal çizgisini yukarı keser → BUY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37560"/>
            <a:ext cx="10607040" cy="868680"/>
          </a:xfrm>
          <a:prstGeom prst="rect">
            <a:avLst/>
          </a:prstGeom>
          <a:solidFill>
            <a:srgbClr val="072238"/>
          </a:solidFill>
          <a:ln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575304"/>
            <a:ext cx="777240" cy="347472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D1B2A"/>
                </a:solidFill>
              </a:rPr>
              <a:t>%20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9242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2"/>
                </a:solidFill>
              </a:rPr>
              <a:t>Bollinger Bands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9476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Fiyat alt banda değer → BUY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89120"/>
            <a:ext cx="10607040" cy="868680"/>
          </a:xfrm>
          <a:prstGeom prst="rect">
            <a:avLst/>
          </a:prstGeom>
          <a:solidFill>
            <a:srgbClr val="072238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626864"/>
            <a:ext cx="77724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D1B2A"/>
                </a:solidFill>
              </a:rPr>
              <a:t>%20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44398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MA Kesişim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4632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SMA_20 &gt; EMA_50 → BUY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440680"/>
            <a:ext cx="11731752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532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A502"/>
                </a:solidFill>
              </a:rPr>
              <a:t>Birleşik Skor &gt; 0.6 → BUY   |   &lt; 0.4 → SELL   |   0.4 – 0.6 → HOLD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Özellik Mühendisliği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4. &amp; 5. Hafta — data_processor.py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10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577840" cy="1920240"/>
          </a:xfrm>
          <a:prstGeom prst="rect">
            <a:avLst/>
          </a:prstGeom>
          <a:solidFill>
            <a:srgbClr val="072238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</a:rPr>
              <a:t>Zaman Tabanlı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Saat, gün, ay, çeyrek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Döngüsel kodlama (sin/cos)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577840" cy="1920240"/>
          </a:xfrm>
          <a:prstGeom prst="rect">
            <a:avLst/>
          </a:prstGeom>
          <a:solidFill>
            <a:srgbClr val="072238"/>
          </a:solidFill>
          <a:ln>
            <a:solidFill>
              <a:srgbClr val="374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42FA"/>
                </a:solidFill>
              </a:rPr>
              <a:t>Volatilite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Rolling std (5, 10, 21 periyot)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BB genişliği = (BB_Üst − BB_Alt) / BB_Orta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83280"/>
            <a:ext cx="5577840" cy="1920240"/>
          </a:xfrm>
          <a:prstGeom prst="rect">
            <a:avLst/>
          </a:prstGeom>
          <a:solidFill>
            <a:srgbClr val="072238"/>
          </a:solidFill>
          <a:ln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474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502"/>
                </a:solidFill>
              </a:rPr>
              <a:t>Hacim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Hacim hareketli ortalaması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Güncel hacim / ortalama hacim oranı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383280"/>
            <a:ext cx="5577840" cy="1920240"/>
          </a:xfrm>
          <a:prstGeom prst="rect">
            <a:avLst/>
          </a:prstGeom>
          <a:solidFill>
            <a:srgbClr val="072238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Fiyat Paternleri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Geçmiş 20 bar zirvesine / dibine mesafe (.shift(1) ile look-ahead önlendi)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Trend güç skoru (ardışık yükselen/düşen bar sayısı)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532120"/>
            <a:ext cx="11731752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623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A502"/>
                </a:solidFill>
              </a:rPr>
              <a:t>Özellik Seçimi: Mutual Information (scikit-learn) ile top-N özellik belirlenir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Derin Öğrenme Mimarisi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TimeSeriesNet — LSTM/GRU + Temporal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11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0607040" cy="749808"/>
          </a:xfrm>
          <a:prstGeom prst="rect">
            <a:avLst/>
          </a:prstGeom>
          <a:solidFill>
            <a:srgbClr val="072238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075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Giriş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99032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(batch, 60, n_features)  — 60 zaman adımı penceresi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984248"/>
            <a:ext cx="18288" cy="18288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67128"/>
            <a:ext cx="10607040" cy="749808"/>
          </a:xfrm>
          <a:prstGeom prst="rect">
            <a:avLst/>
          </a:prstGeom>
          <a:solidFill>
            <a:srgbClr val="072238"/>
          </a:solidFill>
          <a:ln>
            <a:solidFill>
              <a:srgbClr val="374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402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42FA"/>
                </a:solidFill>
              </a:rPr>
              <a:t>LSTM / GRU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3172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3 katman  ·  hidden=128  ·  Dropout=0.3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2916936"/>
            <a:ext cx="18288" cy="18288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099816"/>
            <a:ext cx="10607040" cy="749808"/>
          </a:xfrm>
          <a:prstGeom prst="rect">
            <a:avLst/>
          </a:prstGeom>
          <a:solidFill>
            <a:srgbClr val="072238"/>
          </a:solidFill>
          <a:ln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729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2"/>
                </a:solidFill>
              </a:rPr>
              <a:t>Temporal 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6440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Hangi zaman adımı önemli?  →  (batch, 128)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3849624"/>
            <a:ext cx="18288" cy="18288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32504"/>
            <a:ext cx="10607040" cy="749808"/>
          </a:xfrm>
          <a:prstGeom prst="rect">
            <a:avLst/>
          </a:prstGeom>
          <a:solidFill>
            <a:srgbClr val="072238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0565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LayerNorm + FC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197096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LayerNorm → Linear(128→64) → GELU → Linear(64→1)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4782312"/>
            <a:ext cx="18288" cy="18288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965192"/>
            <a:ext cx="10607040" cy="749808"/>
          </a:xfrm>
          <a:prstGeom prst="rect">
            <a:avLst/>
          </a:prstGeom>
          <a:solidFill>
            <a:srgbClr val="072238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03834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Çıktı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129784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Sigmoid → P(fiyat yükselir)  — binary sınıflandırma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AA"/>
                </a:solidFill>
              </a:rPr>
              <a:t>Pencere: 60 adım  ·  Bidirectional opsiyonu  ·  GPU (CUDA) desteği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Focal Loss &amp; Eğitim Stratejisi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Sınıf dengesizliğiyle mücadele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12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</a:rPr>
              <a:t>Focal Loss Formülü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6858000" cy="1645920"/>
          </a:xfrm>
          <a:prstGeom prst="rect">
            <a:avLst/>
          </a:prstGeom>
          <a:solidFill>
            <a:srgbClr val="05121E"/>
          </a:solidFill>
          <a:ln>
            <a:solidFill>
              <a:srgbClr val="374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6675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D4AA"/>
                </a:solidFill>
                <a:latin typeface="Courier New"/>
              </a:rPr>
              <a:t>FL(p_t) = α · (1 − p_t)^γ · BCE(p_t)
γ = 2.0  →  kolay örneklerin ağırlığı azalır
α  →  pozitif sınıf oranına göre dinamik hesaplanır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188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42FA"/>
                </a:solidFill>
              </a:rPr>
              <a:t>Ek Eğitim Teknikleri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7373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CCDDEE"/>
                </a:solidFill>
              </a:rPr>
              <a:t>▸  Label Smoothing (ε = 0.05): ezber önler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AdamW optimizer + weight_decay=1e-4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Cosine Annealing LR Scheduler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Gradient Clipping (max_norm = 1.0)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Early Stopping (patience = 30 epoch)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747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502"/>
                </a:solidFill>
              </a:rPr>
              <a:t>Optimal Threshold Arama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77639"/>
            <a:ext cx="6858000" cy="1828800"/>
          </a:xfrm>
          <a:prstGeom prst="rect">
            <a:avLst/>
          </a:prstGeom>
          <a:solidFill>
            <a:srgbClr val="05121E"/>
          </a:solidFill>
          <a:ln>
            <a:solidFill>
              <a:srgbClr val="374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69079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D4AA"/>
                </a:solidFill>
                <a:latin typeface="Courier New"/>
              </a:rPr>
              <a:t>for thr in np.arange(0.3, 0.7, 0.01):
    preds = (val_probs &gt; thr).astype(int)
    f1 = 2·precision·recall / (precision+recall)
    if f1 &gt; best_f1: best_threshold = thr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Klasik Makine Öğrenmesi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Random Forest &amp; XGBoost — ml_classification_models.py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13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</a:rPr>
              <a:t>13 Özellik (Feature):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OHLCV  +  RSI  +  MACD  +  MACD_Signal  +  BB_High / BB_Low / BB_Mid  +  SMA_20  +  EMA_50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103120"/>
            <a:ext cx="11731752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402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D4AA"/>
                </a:solidFill>
              </a:rPr>
              <a:t>Random Forest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Random Forest — class_weight='balanced'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n_estimators: 100–700  ·  max_depth: 5–None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min_samples_leaf: 1–8  ·  max_features: sqrt/log2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2FA"/>
                </a:solidFill>
              </a:rPr>
              <a:t>XGBoost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XGBoost — scale_pos_weight = n_neg / n_pos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learning_rate: 0.005–0.2  ·  max_depth: 3–10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reg_alpha (L1) + reg_lambda (L2) regularizasyon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4663440"/>
            <a:ext cx="11731752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75488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A502"/>
                </a:solidFill>
              </a:rPr>
              <a:t>⚙  RandomizedSearchCV — 40 iterasyon, F1 hedef metriği</a:t>
            </a:r>
          </a:p>
          <a:p>
            <a:pPr algn="l"/>
            <a:r>
              <a:rPr sz="1500">
                <a:solidFill>
                  <a:srgbClr val="FFA502"/>
                </a:solidFill>
              </a:rPr>
              <a:t>⚙  TimeSeriesSplit(n_splits=5) — zamansal bütünlük korunur, gelecek verisi sızmaz</a:t>
            </a:r>
          </a:p>
          <a:p>
            <a:pPr algn="l"/>
            <a:r>
              <a:rPr sz="1500">
                <a:solidFill>
                  <a:srgbClr val="FFA502"/>
                </a:solidFill>
              </a:rPr>
              <a:t>⚙  n_jobs=-1 — tüm CPU çekirdekleri kullanılır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Ensemble Yığma Meta-Modeli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Stacking — 4 model + GradientBoosting meta-learner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14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560320" cy="594360"/>
          </a:xfrm>
          <a:prstGeom prst="rect">
            <a:avLst/>
          </a:prstGeom>
          <a:solidFill>
            <a:srgbClr val="072238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LSTM olasılığı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2560320" cy="594360"/>
          </a:xfrm>
          <a:prstGeom prst="rect">
            <a:avLst/>
          </a:prstGeom>
          <a:solidFill>
            <a:srgbClr val="072238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2585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GRU olasılığı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71800"/>
            <a:ext cx="2560320" cy="594360"/>
          </a:xfrm>
          <a:prstGeom prst="rect">
            <a:avLst/>
          </a:prstGeom>
          <a:solidFill>
            <a:srgbClr val="072238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0815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RF olasılığı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94760"/>
            <a:ext cx="2560320" cy="594360"/>
          </a:xfrm>
          <a:prstGeom prst="rect">
            <a:avLst/>
          </a:prstGeom>
          <a:solidFill>
            <a:srgbClr val="072238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9044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XGBoost olasılığı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417320"/>
            <a:ext cx="3017520" cy="3657600"/>
          </a:xfrm>
          <a:prstGeom prst="rect">
            <a:avLst/>
          </a:prstGeom>
          <a:solidFill>
            <a:srgbClr val="041E32"/>
          </a:solidFill>
          <a:ln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508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2"/>
                </a:solidFill>
              </a:rPr>
              <a:t>Cross Features (6 ek)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011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(LSTM+GRU)/2 — DL 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4871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(RF+XGB)/2 — ML 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9626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|LSTM−GRU| — DL uyumsuzluk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4381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|RF−XGB| — ML uyumsuzluk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913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Tüm modellerin ortalaması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389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Modeller arası std (belirsizlik)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011680"/>
            <a:ext cx="2926080" cy="2286000"/>
          </a:xfrm>
          <a:prstGeom prst="rect">
            <a:avLst/>
          </a:prstGeom>
          <a:solidFill>
            <a:srgbClr val="072238"/>
          </a:solidFill>
          <a:ln>
            <a:solidFill>
              <a:srgbClr val="374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742FA"/>
                </a:solidFill>
              </a:rPr>
              <a:t>GradientBoosting
Meta-Model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926080"/>
            <a:ext cx="2651760" cy="1188720"/>
          </a:xfrm>
          <a:prstGeom prst="rect">
            <a:avLst/>
          </a:prstGeom>
          <a:solidFill>
            <a:srgbClr val="05121E"/>
          </a:solidFill>
          <a:ln>
            <a:solidFill>
              <a:srgbClr val="374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0175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D4AA"/>
                </a:solidFill>
                <a:latin typeface="Courier New"/>
              </a:rPr>
              <a:t>max_depth=2
min_samples_leaf=10
subsample=0.7
n_estimators=100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2468880"/>
            <a:ext cx="2011680" cy="1188720"/>
          </a:xfrm>
          <a:prstGeom prst="rect">
            <a:avLst/>
          </a:prstGeom>
          <a:solidFill>
            <a:srgbClr val="042A1A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CC71"/>
                </a:solidFill>
              </a:rPr>
              <a:t>BUY / SELL
/ HOLD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5303520"/>
            <a:ext cx="11731752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394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A502"/>
                </a:solidFill>
              </a:rPr>
              <a:t>Veri Sızıntısı Önlemi: Meta-model, eğitim verisinin yalnızca son %20'sinde eğitilir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Pekiştirmeli Öğrenme: Ortam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TradingEnv — Özel Gymnasium Ortamı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15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</a:rPr>
              <a:t>Aksiyon Uzayı: Discrete(3)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645920" cy="502920"/>
          </a:xfrm>
          <a:prstGeom prst="rect">
            <a:avLst/>
          </a:prstGeom>
          <a:solidFill>
            <a:srgbClr val="072238"/>
          </a:solidFill>
          <a:ln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099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4757"/>
                </a:solidFill>
              </a:rPr>
              <a:t>0 = SAT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645920"/>
            <a:ext cx="1645920" cy="502920"/>
          </a:xfrm>
          <a:prstGeom prst="rect">
            <a:avLst/>
          </a:prstGeom>
          <a:solidFill>
            <a:srgbClr val="072238"/>
          </a:solidFill>
          <a:ln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7099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A502"/>
                </a:solidFill>
              </a:rPr>
              <a:t>1 = TUT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645920"/>
            <a:ext cx="1645920" cy="502920"/>
          </a:xfrm>
          <a:prstGeom prst="rect">
            <a:avLst/>
          </a:prstGeom>
          <a:solidFill>
            <a:srgbClr val="072238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7099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CC71"/>
                </a:solidFill>
              </a:rPr>
              <a:t>2 = 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31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42FA"/>
                </a:solidFill>
              </a:rPr>
              <a:t>Gözlem Uzayı: 10 Özellik (Box, 0–1 normalize)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• Normalize bakiye · Net worth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834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• Meta-model UP olasılığı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834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• Normalize fiyat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37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• RSI (0–1)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337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• MACD Signal (0–1)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337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• 5g fiyat değişimi (0–1)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• 20g volatilite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840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• Hacim oranı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840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• Pozisyon oranı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PPO Ajanı &amp; Reward Fonksiyonu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Risk-Adjusted Reward — train_agent.py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16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</a:rPr>
              <a:t>Reward Bileşenleri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6400800" cy="3017520"/>
          </a:xfrm>
          <a:prstGeom prst="rect">
            <a:avLst/>
          </a:prstGeom>
          <a:solidFill>
            <a:srgbClr val="05121E"/>
          </a:solidFill>
          <a:ln>
            <a:solidFill>
              <a:srgbClr val="374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6217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D4AA"/>
                </a:solidFill>
                <a:latin typeface="Courier New"/>
              </a:rPr>
              <a:t>Toplam Reward =
  + PnL reward        (ΔNetWorth / initial × 0.01)
  − Drawdown cezası   (drawdown × 2.0)
  − Aşırı işlem ceza  (0.001 · işlem başına)
  + Sharpe bonusu     (PnL / return_std × 0.1)
  − Aksiyon çeşitliliği cezası (satış &lt; %2 ise)
  − Uzun pozisyon cezası (&gt;100 adım aynı pozisyon)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1887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42FA"/>
                </a:solidFill>
              </a:rPr>
              <a:t>PPO Hiperparametreleri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691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CCDDEE"/>
                </a:solidFill>
              </a:rPr>
              <a:t>▸  n_steps = 2048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batch_size = 64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gamma = 0.99  (uzun vadeli ödül)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gae_lambda = 0.95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ent_coef = 0.05  (keşif teşviki)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clip_range = 0.2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500.000 timestep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4892040"/>
            <a:ext cx="11731752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983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757"/>
                </a:solidFill>
              </a:rPr>
              <a:t>Data Leakage Önlemi: RL ajanı yalnızca verinin ilk %80'inde eğitilir — son %20 test için ayrılır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Backtest Motoru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SimpleBacktester — backtester.py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17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</a:rPr>
              <a:t>Sinyal Dönüşümü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029200" cy="1463040"/>
          </a:xfrm>
          <a:prstGeom prst="rect">
            <a:avLst/>
          </a:prstGeom>
          <a:solidFill>
            <a:srgbClr val="05121E"/>
          </a:solidFill>
          <a:ln>
            <a:solidFill>
              <a:srgbClr val="374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D4AA"/>
                </a:solidFill>
                <a:latin typeface="Courier New"/>
              </a:rPr>
              <a:t>meta_prob &gt; 0.55  →  AL  (2)
meta_prob &lt; 0.45  →  SAT (0)
0.45 – 0.55       →  TUT (1)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1887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42FA"/>
                </a:solidFill>
              </a:rPr>
              <a:t>Hesaplanan Metrikler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69164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CCDDEE"/>
                </a:solidFill>
              </a:rPr>
              <a:t>▸  Toplam Getiri (%)</a:t>
            </a:r>
          </a:p>
          <a:p>
            <a:pPr algn="l"/>
            <a:r>
              <a:rPr sz="1600">
                <a:solidFill>
                  <a:srgbClr val="CCDDEE"/>
                </a:solidFill>
              </a:rPr>
              <a:t>▸  Sharpe Oranı (yıllık, 252 iş günü varsayımı)</a:t>
            </a:r>
          </a:p>
          <a:p>
            <a:pPr algn="l"/>
            <a:r>
              <a:rPr sz="1600">
                <a:solidFill>
                  <a:srgbClr val="CCDDEE"/>
                </a:solidFill>
              </a:rPr>
              <a:t>▸  Max Drawdown — zirve-dip farkı</a:t>
            </a:r>
          </a:p>
          <a:p>
            <a:pPr algn="l"/>
            <a:r>
              <a:rPr sz="1600">
                <a:solidFill>
                  <a:srgbClr val="CCDDEE"/>
                </a:solidFill>
              </a:rPr>
              <a:t>▸  Win Rate — FIFO eşleştirme ile</a:t>
            </a:r>
          </a:p>
          <a:p>
            <a:pPr algn="l"/>
            <a:r>
              <a:rPr sz="1600">
                <a:solidFill>
                  <a:srgbClr val="CCDDEE"/>
                </a:solidFill>
              </a:rPr>
              <a:t>▸  Toplam işlem sayısı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4480560"/>
            <a:ext cx="11731752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572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A502"/>
                </a:solidFill>
              </a:rPr>
              <a:t>Gerçekçilik: Her işlemde %0.1 komisyon dahil edilir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029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AA"/>
                </a:solidFill>
              </a:rPr>
              <a:t>Portföy performans grafiği + AL/SAT noktaları + Drawdown paneli otomatik üretilir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Sonuçlar: Derin Öğrenme Modelleri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LSTM/GRU + Attention performansı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18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61702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Coin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F1 Skoru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BTC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LSTM + Attention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~50.2%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~0.352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BTC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GRU + Attention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~50.1%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~0.361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ETH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LSTM + Attention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~49.5%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~0.422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ETH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GRU + Attention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~49.8%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~0.415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SOL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LSTM + Attention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~50.8%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~0.490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SOL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GRU + Attention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~50.5%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~0.485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28600" y="5394960"/>
            <a:ext cx="11731752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548640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8899AA"/>
                </a:solidFill>
              </a:rPr>
              <a:t>→  Kripto piyasası büyük ölçüde random-walk → %50 accuracy beklenen tavan</a:t>
            </a:r>
          </a:p>
          <a:p>
            <a:pPr algn="l"/>
            <a:r>
              <a:rPr sz="1300">
                <a:solidFill>
                  <a:srgbClr val="8899AA"/>
                </a:solidFill>
              </a:rPr>
              <a:t>→  Focal Loss + optimal threshold → F1 skoru düz BCE'ye göre iyileşiyor</a:t>
            </a:r>
          </a:p>
          <a:p>
            <a:pPr algn="l"/>
            <a:r>
              <a:rPr sz="1300">
                <a:solidFill>
                  <a:srgbClr val="8899AA"/>
                </a:solidFill>
              </a:rPr>
              <a:t>→  Attention mekanizması kritik zaman adımlarını öğreniyor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Sonuçlar: ML &amp;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RF, XGBoost ve Stacking karşılaştırması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19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Coin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F1 Skoru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BTC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49.7%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0.358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BTC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43.6%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0.278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BTC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Ensemble (Stack)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43.6%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0.310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ETH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49.7%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0.489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ETH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52.9%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0.508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ETH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Ensemble (Stack)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53.97%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0.525  ★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SOL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50.3%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0.565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SOL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49.2%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0.558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SOL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Ensemble (Stack)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51.0%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0.573  ★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035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★ Ensemble, bireysel modellerin en iyisini geçiyor — cross-feature kombinasyonu işe yarıyor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Sonuçlar: PPO RL Ajanı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Backtest performansı — test verisi (%20)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20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280160"/>
          <a:ext cx="10332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Coin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Toplam Getiri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Max Drawdown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Sharpe Oranı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BTC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278.6%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76.6%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0.598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ETH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306.0%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79.3%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0.606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SOL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4024.6% ⚠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96.3%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0.982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794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</a:rPr>
              <a:t>Yorumlar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11430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CCDDEE"/>
                </a:solidFill>
              </a:rPr>
              <a:t>▸  Sharpe &gt; 0.5 → pozitif risk-ayarlı getiri, rastgele alım-satımdan belirgin iyileştirme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BTC &amp; ETH sonuçları data leakage düzeltmesi sonrası tutarlı ve güvenilir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⚠ SOL %4024 → Data leakage düzeltmesi ÖNCESİNE ait; düzeltme sonrası değerler daha düşük olacak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Yüksek drawdown → RL stratejisine stop-loss kuralları eklenmesi önerilir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Karşılaştırma Özeti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Her yaklaşımın güçlü ve zayıf yönleri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21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34440"/>
          <a:ext cx="116128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Yaklaşım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Güçlü Yönü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Zayıf Yönü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Teknik Analiz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Yorumlanabilir, hızlı, kurallar net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Statik eşikler, rejim değişimine duyarlı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LSTM/GRU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Zamansal örüntü öğrenir, attention ile odak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Sınıf dengesizliğine duyarlı, yavaş eğitim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RF/XGBoost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Özellik önemine göre seçici, hızlı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Zaman serisi yapısını tam görmez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Ensemble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Modellerin zayıflıklarını dengeler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Eğitim karmaşıklığı ve süresi yüksek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PPO RL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Dinamik strateji, risk-aware reward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Overfit riski, çok uzun eğitim süresi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Tespit &amp; Düzeltilen Hatalar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Kod kalitesi — 11 hata düzeltildi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22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188720"/>
          <a:ext cx="117957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Dosya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Hata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0D4AA"/>
                          </a:solidFill>
                        </a:rPr>
                        <a:t>Etki</a:t>
                      </a:r>
                    </a:p>
                  </a:txBody>
                  <a:tcPr>
                    <a:solidFill>
                      <a:srgbClr val="063A5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time_series_models.py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state_dict().copy() sığ kopya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En iyi model kayboluyordu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train_agent.py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position_duration her zaman artıyordu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Ceza mekanizması işlevsizdi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train_agent.py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RL ajanı test verisini görüyordu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SOL'da sahte %4024 getiri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ensemble_model.py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Meta-model son %40 + XGB dominasyonu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Sızıntılı meta-eğitim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data_processor.py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bb_middle=0'da inf üretiyordu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Pipeline kırılıyordu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data_processor.py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Rolling high/low mevcut barı içerdi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Anlamsız look-ahead özellik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ml_signal_generator.py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Binary etikete 3-sınıf map uygulandı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XGBoost yanlış sınıf sayısı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rl_environment.py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Reward dolar cinsinden ölçeksiz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BTC/ETH/SOL karşılaştırılamaz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database.py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row[0]==0 yanlışlıkla None dönüyordu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Timestamp 0 kayıp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coingecko_collector.py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Bilinmeyen ID için yanlış sembol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Geçersiz coin kaydı</a:t>
                      </a:r>
                    </a:p>
                  </a:txBody>
                  <a:tcPr>
                    <a:solidFill>
                      <a:srgbClr val="0D1F3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ensemble_model.py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Yorum kodla çelişiyordu (%40 vs %20)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CCDDEE"/>
                          </a:solidFill>
                        </a:rPr>
                        <a:t>Okunabilirlik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Görselleştirme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3 farklı katman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23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03320" cy="5029200"/>
          </a:xfrm>
          <a:prstGeom prst="rect">
            <a:avLst/>
          </a:prstGeom>
          <a:solidFill>
            <a:srgbClr val="072238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Matplotlib — Statik Grafikler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▸  OHLCV + Bollinger Bands + SMA/EMA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▸  RSI · MACD · Hacim grafikleri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3756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▸  AL/SAT sinyal işaretleri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2336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▸  Backtest portföy &amp; drawdown grafiği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34440"/>
            <a:ext cx="3703320" cy="5029200"/>
          </a:xfrm>
          <a:prstGeom prst="rect">
            <a:avLst/>
          </a:prstGeom>
          <a:solidFill>
            <a:srgbClr val="072238"/>
          </a:solidFill>
          <a:ln>
            <a:solidFill>
              <a:srgbClr val="374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137160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42FA"/>
                </a:solidFill>
              </a:rPr>
              <a:t>Plotly — İnteraktif HTML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196596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▸  Zoom, pan, hover tooltip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265176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▸  Candlestick + tüm göstergeler tek panelde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333756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▸  OBV (On-Balance Volume) alt paneli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402336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▸  Tarayıcıda açılan tek dosya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8" y="1234440"/>
            <a:ext cx="3703320" cy="5029200"/>
          </a:xfrm>
          <a:prstGeom prst="rect">
            <a:avLst/>
          </a:prstGeom>
          <a:solidFill>
            <a:srgbClr val="072238"/>
          </a:solidFill>
          <a:ln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8" y="137160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2"/>
                </a:solidFill>
              </a:rPr>
              <a:t>Streamlit — Web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8" y="196596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▸  LSTM/GRU tahmin sonuçları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8" y="265176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▸  Gerçek zamanlı fiyat güncellemesi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8" y="333756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▸  Model karşılaştırma tabloları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8" y="402336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▸  python -m streamlit run ai_dashboard.py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Teknoloji Yığını &amp; Çalıştırma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</a:rPr>
              <a:t>Kullanılan kütüphaneler ve CLI komutları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24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03320" cy="1691640"/>
          </a:xfrm>
          <a:prstGeom prst="rect">
            <a:avLst/>
          </a:prstGeom>
          <a:solidFill>
            <a:srgbClr val="072238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0759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Veri &amp;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pandas · numpy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8483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SQLite (WAL modu)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3230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requests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234440"/>
            <a:ext cx="3703320" cy="1691640"/>
          </a:xfrm>
          <a:prstGeom prst="rect">
            <a:avLst/>
          </a:prstGeom>
          <a:solidFill>
            <a:srgbClr val="072238"/>
          </a:solidFill>
          <a:ln>
            <a:solidFill>
              <a:srgbClr val="374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30759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42FA"/>
                </a:solidFill>
              </a:rPr>
              <a:t>Derin Öğrenme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399" y="17373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PyTorch 2.0+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208483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CUDA (GPU desteği)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243230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TensorFlow/Keras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8" y="1234440"/>
            <a:ext cx="3703320" cy="1691640"/>
          </a:xfrm>
          <a:prstGeom prst="rect">
            <a:avLst/>
          </a:prstGeom>
          <a:solidFill>
            <a:srgbClr val="072238"/>
          </a:solidFill>
          <a:ln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8" y="130759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2"/>
                </a:solidFill>
              </a:rPr>
              <a:t>Klasik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17373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scikit-learn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208483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XGBoost 2.0+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8" y="243230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joblib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00400"/>
            <a:ext cx="3703320" cy="1691640"/>
          </a:xfrm>
          <a:prstGeom prst="rect">
            <a:avLst/>
          </a:prstGeom>
          <a:solidFill>
            <a:srgbClr val="072238"/>
          </a:solidFill>
          <a:ln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27355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757"/>
                </a:solidFill>
              </a:rPr>
              <a:t>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7033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Gymnasium 0.29+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05079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Stable-Baselines3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39826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PPO algoritması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3200400"/>
            <a:ext cx="3703320" cy="1691640"/>
          </a:xfrm>
          <a:prstGeom prst="rect">
            <a:avLst/>
          </a:prstGeom>
          <a:solidFill>
            <a:srgbClr val="072238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399" y="327355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Görselleştirme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399" y="37033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Matplotlib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405079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Plotly 5.18+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399" y="439826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Streamlit 1.28+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598" y="3200400"/>
            <a:ext cx="3703320" cy="1691640"/>
          </a:xfrm>
          <a:prstGeom prst="rect">
            <a:avLst/>
          </a:prstGeom>
          <a:solidFill>
            <a:srgbClr val="072238"/>
          </a:solidFill>
          <a:ln>
            <a:solidFill>
              <a:srgbClr val="88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38" y="327355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9AA"/>
                </a:solidFill>
              </a:rPr>
              <a:t>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37033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python-binance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8" y="405079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CoinGecko 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8" y="439826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• yfinance (fallback)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5257800"/>
            <a:ext cx="11731752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5349240"/>
            <a:ext cx="11612880" cy="1234440"/>
          </a:xfrm>
          <a:prstGeom prst="rect">
            <a:avLst/>
          </a:prstGeom>
          <a:solidFill>
            <a:srgbClr val="05121E"/>
          </a:solidFill>
          <a:ln>
            <a:solidFill>
              <a:srgbClr val="374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440680"/>
            <a:ext cx="11430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D4AA"/>
                </a:solidFill>
                <a:latin typeface="Courier New"/>
              </a:rPr>
              <a:t>python main.py aiall          # Tüm AI pipeline
python main.py airl           # Sadece RL ajanı
streamlit run ai_dashboard.py # Web dashboard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Sonuç &amp; Gelecek Çalışmalar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AA"/>
                </a:solidFill>
              </a:rPr>
              <a:t>25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</a:rPr>
              <a:t>Başarılar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CCDDEE"/>
                </a:solidFill>
              </a:rPr>
              <a:t>  ✅  Tam uçtan uca hibrit trading pipeline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  ✅  4 farklı AI paradigması tek sistemde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  ✅  11 kritik hata tespit &amp; düzeltildi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  ✅  ETH'de %53.97 ensemble accuracy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  ✅  Sharpe &gt; 0.5 ile pozitif risk-ayarlı getiri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  ✅  Gerçekçi backtest (%0.1 komisyon dahil)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</a:rPr>
              <a:t>Gelecek Çalışmalar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CCDDEE"/>
                </a:solidFill>
              </a:rPr>
              <a:t>▸  K-Fold OOF ile gerçek ensemble eğitimi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Transformer (Temporal Fusion Transformer)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Çoklu varlık portföy optimizasyonu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Canlı paper trading entegrasyonu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Haber &amp; Twitter sentiment analizi</a:t>
            </a:r>
          </a:p>
          <a:p>
            <a:pPr algn="l"/>
            <a:r>
              <a:rPr sz="1500">
                <a:solidFill>
                  <a:srgbClr val="CCDDEE"/>
                </a:solidFill>
              </a:rPr>
              <a:t>▸  Stop-loss / take-profit kuralları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349240"/>
            <a:ext cx="11731752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440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899AA"/>
                </a:solidFill>
              </a:rPr>
              <a:t>"Bu proje, yapay zekanın finans alanındaki pratik sınırlarını ve potansiyelini görmek açısından değerli bir deneyim oldu."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