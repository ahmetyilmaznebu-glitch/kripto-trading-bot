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0"/>
            <a:ext cx="12188952" cy="228600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37160" cy="2286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B0BEC5"/>
                </a:solidFill>
                <a:latin typeface="Segoe UI"/>
              </a:rPr>
              <a:t>Yapay Zeka Destekli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3317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D4FF"/>
                </a:solidFill>
                <a:latin typeface="Segoe UI"/>
              </a:rPr>
              <a:t>Hibrit Kripto Para Trading Botu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B0BEC5"/>
                </a:solidFill>
                <a:latin typeface="Segoe UI"/>
              </a:rPr>
              <a:t>Bilgisayar Mühendisliği Uygulama Tasarımı  |  2025–2026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Ahmet Yılmaz  |  Near East University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6291072"/>
            <a:ext cx="1554480" cy="292608"/>
          </a:xfrm>
          <a:prstGeom prst="rect">
            <a:avLst/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093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FF"/>
                </a:solidFill>
                <a:latin typeface="Segoe UI"/>
              </a:rPr>
              <a:t>Python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6291072"/>
            <a:ext cx="1554480" cy="292608"/>
          </a:xfrm>
          <a:prstGeom prst="rect">
            <a:avLst/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63093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6B35"/>
                </a:solidFill>
                <a:latin typeface="Segoe UI"/>
              </a:rPr>
              <a:t>PyTorch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6291072"/>
            <a:ext cx="1554480" cy="292608"/>
          </a:xfrm>
          <a:prstGeom prst="rect">
            <a:avLst/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63093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9FF14"/>
                </a:solidFill>
                <a:latin typeface="Segoe UI"/>
              </a:rPr>
              <a:t>XGBoost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6291072"/>
            <a:ext cx="1554480" cy="292608"/>
          </a:xfrm>
          <a:prstGeom prst="rect">
            <a:avLst/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63093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B86FC"/>
                </a:solidFill>
                <a:latin typeface="Segoe UI"/>
              </a:rPr>
              <a:t>PPO / RL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6291072"/>
            <a:ext cx="1554480" cy="292608"/>
          </a:xfrm>
          <a:prstGeom prst="rect">
            <a:avLst/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63093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FF"/>
                </a:solidFill>
                <a:latin typeface="Segoe UI"/>
              </a:rPr>
              <a:t>Streamlit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41280" y="6291072"/>
            <a:ext cx="1554480" cy="292608"/>
          </a:xfrm>
          <a:prstGeom prst="rect">
            <a:avLst/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32720" y="63093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6B35"/>
                </a:solidFill>
                <a:latin typeface="Segoe UI"/>
              </a:rPr>
              <a:t>SQLite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FF"/>
                </a:solidFill>
                <a:latin typeface="Segoe UI"/>
              </a:rPr>
              <a:t>Sistem Mimarisi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  <a:latin typeface="Segoe UI"/>
              </a:rPr>
              <a:t>5 Katmanlı Pipeline — Veri'den Karara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11521440" cy="8686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54864" cy="8686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1615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Segoe UI"/>
              </a:rPr>
              <a:t>1  VERİ KATMANI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1399032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Binance API (OHLCV) + CoinGecko API  →  SQLite 7 Tablo, 26 MB, ~4 Yıl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C5"/>
                </a:solidFill>
                <a:latin typeface="Segoe UI"/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139696"/>
            <a:ext cx="11521440" cy="8686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139696"/>
            <a:ext cx="54864" cy="86868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21284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FF14"/>
                </a:solidFill>
                <a:latin typeface="Segoe UI"/>
              </a:rPr>
              <a:t>2  ÖZELLİK MÜHENDİSLİĞİ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395728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SMA, EMA, RSI, MACD, Bollinger Bands, ATR, VWAP  →  13+ özellik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00837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C5"/>
                </a:solidFill>
                <a:latin typeface="Segoe UI"/>
              </a:rPr>
              <a:t>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136392"/>
            <a:ext cx="11521440" cy="8686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136392"/>
            <a:ext cx="54864" cy="8686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20954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Segoe UI"/>
              </a:rPr>
              <a:t>3  MODEL KATMANI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3392424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LSTM + GRU (Attention)  |  Random Forest  |  XGBoost  →  Ensemble (Stacking)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00507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C5"/>
                </a:solidFill>
                <a:latin typeface="Segoe UI"/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133088"/>
            <a:ext cx="11521440" cy="8686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4133088"/>
            <a:ext cx="54864" cy="86868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2062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B86FC"/>
                </a:solidFill>
                <a:latin typeface="Segoe UI"/>
              </a:rPr>
              <a:t>4  PEKİŞTİRMELİ ÖĞRENME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4389120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PPO Ajanı  |  Custom Gymnasium Ortamı  |  Risk-Adjusted Ödül Fonksiyonu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500176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C5"/>
                </a:solidFill>
                <a:latin typeface="Segoe UI"/>
              </a:rPr>
              <a:t>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5129784"/>
            <a:ext cx="11521440" cy="8686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5129784"/>
            <a:ext cx="54864" cy="8686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20293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Segoe UI"/>
              </a:rPr>
              <a:t>5  SUNUM KATMANI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5385816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Streamlit Dashboard + Plotly Grafikler  |  CLI (20+ komut)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6217920"/>
            <a:ext cx="11521440" cy="502920"/>
          </a:xfrm>
          <a:prstGeom prst="rect">
            <a:avLst/>
          </a:prstGeom>
          <a:solidFill>
            <a:srgbClr val="332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6217920"/>
            <a:ext cx="54864" cy="50292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" y="6272784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600"/>
                </a:solidFill>
                <a:latin typeface="Segoe UI"/>
              </a:rPr>
              <a:t>⚡ JÜRİ SORUSU: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" y="6492240"/>
            <a:ext cx="1133856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ED80"/>
                </a:solidFill>
                <a:latin typeface="Segoe UI"/>
              </a:rPr>
              <a:t>Bu 5 katmanı sırayla açıklayın. Her geçişte 'Neden bu sıraya ihtiyaç var?' diye sorulabilir.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9FF14"/>
                </a:solidFill>
                <a:latin typeface="Segoe UI"/>
              </a:rPr>
              <a:t>Veri Toplama &amp; Veritabanı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  <a:latin typeface="Segoe UI"/>
              </a:rPr>
              <a:t>Binance + CoinGecko  →  SQLite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3657600" cy="182880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3657600" cy="36576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2344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FF14"/>
                </a:solidFill>
                <a:latin typeface="Segoe UI"/>
              </a:rPr>
              <a:t>Binance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527048"/>
            <a:ext cx="347472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OHLCV Kline verisi
1h / 4h / 1d zaman dilimleri
BTC, ETH, SOL
Public endpoint — API key gerekmez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063240"/>
            <a:ext cx="3657600" cy="146304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3063240"/>
            <a:ext cx="36576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1546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Segoe UI"/>
              </a:rPr>
              <a:t>CoinGecko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3447288"/>
            <a:ext cx="34747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Market cap, rank, sosyal metrikler
Ek meta özellikler
Ücretsiz plan kullanıldı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617720"/>
            <a:ext cx="3657600" cy="11887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4617720"/>
            <a:ext cx="36576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" y="47091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Segoe UI"/>
              </a:rPr>
              <a:t>Zaman Kapsamı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5001768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~1500 gün ≈ 4 Yıl
~26 MB SQLite dosyası
WAL modu aktif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1143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Segoe UI"/>
              </a:rPr>
              <a:t>▌ SQLite Tablo Yapısı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1508760"/>
            <a:ext cx="7680960" cy="5029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1581912"/>
            <a:ext cx="1645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39FF14"/>
                </a:solidFill>
                <a:latin typeface="Segoe UI"/>
              </a:rPr>
              <a:t>klines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158191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Ham OHLCV — open, high, low, close, volume, open_time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0520" y="2084831"/>
            <a:ext cx="7680960" cy="5029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2157983"/>
            <a:ext cx="1645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39FF14"/>
                </a:solidFill>
                <a:latin typeface="Segoe UI"/>
              </a:rPr>
              <a:t>indicators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2157983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Hesaplanan teknik göstergeler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60520" y="2660904"/>
            <a:ext cx="7680960" cy="5029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0" y="2734056"/>
            <a:ext cx="1645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39FF14"/>
                </a:solidFill>
                <a:latin typeface="Segoe UI"/>
              </a:rPr>
              <a:t>signals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2734056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Kural tabanlı alım/satım sinyalleri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60520" y="3236976"/>
            <a:ext cx="7680960" cy="5029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0" y="3310128"/>
            <a:ext cx="1645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39FF14"/>
                </a:solidFill>
                <a:latin typeface="Segoe UI"/>
              </a:rPr>
              <a:t>predictions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3310128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Model tahminleri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60520" y="3813048"/>
            <a:ext cx="7680960" cy="5029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80" y="3886200"/>
            <a:ext cx="1645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39FF14"/>
                </a:solidFill>
                <a:latin typeface="Segoe UI"/>
              </a:rPr>
              <a:t>trades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388620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Simüle edilmiş işlem kayıtları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60520" y="4389120"/>
            <a:ext cx="7680960" cy="5029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97680" y="4462272"/>
            <a:ext cx="1645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39FF14"/>
                </a:solidFill>
                <a:latin typeface="Segoe UI"/>
              </a:rPr>
              <a:t>portfolio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89320" y="44622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Portföy anlık durum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60520" y="4965192"/>
            <a:ext cx="7680960" cy="5029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7680" y="5038344"/>
            <a:ext cx="1645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39FF14"/>
                </a:solidFill>
                <a:latin typeface="Segoe UI"/>
              </a:rPr>
              <a:t>metadata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89320" y="5038344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Veri toplama logları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6144768"/>
            <a:ext cx="11521440" cy="548640"/>
          </a:xfrm>
          <a:prstGeom prst="rect">
            <a:avLst/>
          </a:prstGeom>
          <a:solidFill>
            <a:srgbClr val="332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0040" y="6144768"/>
            <a:ext cx="54864" cy="54864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8056" y="6199632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600"/>
                </a:solidFill>
                <a:latin typeface="Segoe UI"/>
              </a:rPr>
              <a:t>⚡ JÜRİ SORUSU: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" y="6419088"/>
            <a:ext cx="11338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ED80"/>
                </a:solidFill>
                <a:latin typeface="Segoe UI"/>
              </a:rPr>
              <a:t>Neden PostgreSQL değil SQLite? WAL modu ne işe yarıyor?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6B35"/>
                </a:solidFill>
                <a:latin typeface="Segoe UI"/>
              </a:rPr>
              <a:t>Teknik Göstergeler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  <a:latin typeface="Segoe UI"/>
              </a:rPr>
              <a:t>Sıfırdan Implement — Kütüphane Kullanılmadı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097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Segoe UI"/>
              </a:rPr>
              <a:t>▌ 7 Gösterge — Formüller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8229600" cy="347472"/>
          </a:xfrm>
          <a:prstGeom prst="rect">
            <a:avLst/>
          </a:prstGeom>
          <a:solidFill>
            <a:srgbClr val="11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47218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Segoe UI"/>
              </a:rPr>
              <a:t>Gösterge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472184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Segoe UI"/>
              </a:rPr>
              <a:t>Formül / Hesaplama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147218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Segoe UI"/>
              </a:rPr>
              <a:t>Amaç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801368"/>
            <a:ext cx="8229600" cy="5029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89280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9FF14"/>
                </a:solidFill>
                <a:latin typeface="Segoe UI"/>
              </a:rPr>
              <a:t>SMA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892808"/>
            <a:ext cx="4023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Segoe UI"/>
              </a:rPr>
              <a:t>Σ(close) / period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189280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Trend yönü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368296"/>
            <a:ext cx="8229600" cy="502920"/>
          </a:xfrm>
          <a:prstGeom prst="rect">
            <a:avLst/>
          </a:prstGeom>
          <a:solidFill>
            <a:srgbClr val="13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45973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9FF14"/>
                </a:solidFill>
                <a:latin typeface="Segoe UI"/>
              </a:rPr>
              <a:t>EMA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2459736"/>
            <a:ext cx="4023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Segoe UI"/>
              </a:rPr>
              <a:t>ewm(span=period, adjust=False)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245973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Yakın zamana ağırlık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935224"/>
            <a:ext cx="8229600" cy="5029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302666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9FF14"/>
                </a:solidFill>
                <a:latin typeface="Segoe UI"/>
              </a:rPr>
              <a:t>RSI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3026664"/>
            <a:ext cx="4023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Segoe UI"/>
              </a:rPr>
              <a:t>100 − 100/(1+EWM_gain/EWM_loss)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302666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Aşırı alım/satım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502151"/>
            <a:ext cx="8229600" cy="502920"/>
          </a:xfrm>
          <a:prstGeom prst="rect">
            <a:avLst/>
          </a:prstGeom>
          <a:solidFill>
            <a:srgbClr val="13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3593591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9FF14"/>
                </a:solidFill>
                <a:latin typeface="Segoe UI"/>
              </a:rPr>
              <a:t>MACD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3593591"/>
            <a:ext cx="4023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Segoe UI"/>
              </a:rPr>
              <a:t>EMA(12) − EMA(26), sinyal=EMA(9)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7880" y="3593591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Momentum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069080"/>
            <a:ext cx="8229600" cy="5029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41605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9FF14"/>
                </a:solidFill>
                <a:latin typeface="Segoe UI"/>
              </a:rPr>
              <a:t>BB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4160520"/>
            <a:ext cx="4023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Segoe UI"/>
              </a:rPr>
              <a:t>middle±2σ  (σ=rolling std)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97880" y="416052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Volatilite bantları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636008"/>
            <a:ext cx="8229600" cy="502920"/>
          </a:xfrm>
          <a:prstGeom prst="rect">
            <a:avLst/>
          </a:prstGeom>
          <a:solidFill>
            <a:srgbClr val="13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472744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9FF14"/>
                </a:solidFill>
                <a:latin typeface="Segoe UI"/>
              </a:rPr>
              <a:t>ATR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37360" y="4727448"/>
            <a:ext cx="4023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Segoe UI"/>
              </a:rPr>
              <a:t>SMA(TrueRange)  TR=max(H-L,|H-pC|,|L-pC|)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97880" y="472744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Volatilite ölçümü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5202935"/>
            <a:ext cx="8229600" cy="5029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5294375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9FF14"/>
                </a:solidFill>
                <a:latin typeface="Segoe UI"/>
              </a:rPr>
              <a:t>VWAP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37360" y="5294375"/>
            <a:ext cx="4023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Segoe UI"/>
              </a:rPr>
              <a:t>Σ(TP×V) / Σ(V)  TP=(H+L+C)/3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97880" y="5294375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Hacim ağırlıklı fiyat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1097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B86FC"/>
                </a:solidFill>
                <a:latin typeface="Segoe UI"/>
              </a:rPr>
              <a:t>▌ RSI Kod İzi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732520" y="1417320"/>
            <a:ext cx="3154680" cy="4526280"/>
          </a:xfrm>
          <a:prstGeom prst="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732520" y="1417320"/>
            <a:ext cx="45720" cy="452628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42248" y="1490472"/>
            <a:ext cx="2971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ABDBFF"/>
                </a:solidFill>
                <a:latin typeface="Consolas"/>
              </a:rPr>
              <a:t>delta = series.diff()</a:t>
            </a:r>
          </a:p>
          <a:p>
            <a:r>
              <a:rPr sz="900">
                <a:solidFill>
                  <a:srgbClr val="ABDBFF"/>
                </a:solidFill>
                <a:latin typeface="Consolas"/>
              </a:rPr>
              <a:t>gain  = delta.where(delta &gt; 0, 0.0)</a:t>
            </a:r>
          </a:p>
          <a:p>
            <a:r>
              <a:rPr sz="900">
                <a:solidFill>
                  <a:srgbClr val="ABDBFF"/>
                </a:solidFill>
                <a:latin typeface="Consolas"/>
              </a:rPr>
              <a:t>loss  = (-delta).where(delta &lt; 0, 0.0)</a:t>
            </a:r>
          </a:p>
          <a:p>
            <a:r>
              <a:rPr sz="900">
                <a:solidFill>
                  <a:srgbClr val="ABDBFF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ABDBFF"/>
                </a:solidFill>
                <a:latin typeface="Consolas"/>
              </a:rPr>
              <a:t>avg_gain = gain.ewm(</a:t>
            </a:r>
          </a:p>
          <a:p>
            <a:r>
              <a:rPr sz="900">
                <a:solidFill>
                  <a:srgbClr val="ABDBFF"/>
                </a:solidFill>
                <a:latin typeface="Consolas"/>
              </a:rPr>
              <a:t>    alpha=1/period,</a:t>
            </a:r>
          </a:p>
          <a:p>
            <a:r>
              <a:rPr sz="900">
                <a:solidFill>
                  <a:srgbClr val="ABDBFF"/>
                </a:solidFill>
                <a:latin typeface="Consolas"/>
              </a:rPr>
              <a:t>    min_periods=period,</a:t>
            </a:r>
          </a:p>
          <a:p>
            <a:r>
              <a:rPr sz="900">
                <a:solidFill>
                  <a:srgbClr val="ABDBFF"/>
                </a:solidFill>
                <a:latin typeface="Consolas"/>
              </a:rPr>
              <a:t>    adjust=False).mean()</a:t>
            </a:r>
          </a:p>
          <a:p>
            <a:r>
              <a:rPr sz="900">
                <a:solidFill>
                  <a:srgbClr val="ABDBFF"/>
                </a:solidFill>
                <a:latin typeface="Consolas"/>
              </a:rPr>
              <a:t>avg_loss = loss.ewm(</a:t>
            </a:r>
          </a:p>
          <a:p>
            <a:r>
              <a:rPr sz="900">
                <a:solidFill>
                  <a:srgbClr val="ABDBFF"/>
                </a:solidFill>
                <a:latin typeface="Consolas"/>
              </a:rPr>
              <a:t>    alpha=1/period,</a:t>
            </a:r>
          </a:p>
          <a:p>
            <a:r>
              <a:rPr sz="900">
                <a:solidFill>
                  <a:srgbClr val="ABDBFF"/>
                </a:solidFill>
                <a:latin typeface="Consolas"/>
              </a:rPr>
              <a:t>    min_periods=period,</a:t>
            </a:r>
          </a:p>
          <a:p>
            <a:r>
              <a:rPr sz="900">
                <a:solidFill>
                  <a:srgbClr val="ABDBFF"/>
                </a:solidFill>
                <a:latin typeface="Consolas"/>
              </a:rPr>
              <a:t>    adjust=False).mean()</a:t>
            </a:r>
          </a:p>
          <a:p>
            <a:r>
              <a:rPr sz="900">
                <a:solidFill>
                  <a:srgbClr val="ABDBFF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ABDBFF"/>
                </a:solidFill>
                <a:latin typeface="Consolas"/>
              </a:rPr>
              <a:t>rs  = avg_gain / avg_loss</a:t>
            </a:r>
          </a:p>
          <a:p>
            <a:r>
              <a:rPr sz="900">
                <a:solidFill>
                  <a:srgbClr val="ABDBFF"/>
                </a:solidFill>
                <a:latin typeface="Consolas"/>
              </a:rPr>
              <a:t>rsi = 100 - (100 / (1 + rs))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6144768"/>
            <a:ext cx="11521440" cy="548640"/>
          </a:xfrm>
          <a:prstGeom prst="rect">
            <a:avLst/>
          </a:prstGeom>
          <a:solidFill>
            <a:srgbClr val="332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" y="6144768"/>
            <a:ext cx="54864" cy="54864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8056" y="6199632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600"/>
                </a:solidFill>
                <a:latin typeface="Segoe UI"/>
              </a:rPr>
              <a:t>⚡ JÜRİ SORUSU: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8056" y="6419088"/>
            <a:ext cx="11338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ED80"/>
                </a:solidFill>
                <a:latin typeface="Segoe UI"/>
              </a:rPr>
              <a:t>Wilder'ın smoothing yöntemi neden alpha=1/period? SMA ile fark ne?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FF"/>
                </a:solidFill>
                <a:latin typeface="Segoe UI"/>
              </a:rPr>
              <a:t>Kural Tabanlı Sinyal Üreteci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  <a:latin typeface="Segoe UI"/>
              </a:rPr>
              <a:t>Ağırlıklı Kombine Karar Sistemi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097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Segoe UI"/>
              </a:rPr>
              <a:t>▌ Sinyal Ağırlıkları (config.py)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2743200" cy="146304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274320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087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35"/>
                </a:solidFill>
                <a:latin typeface="Segoe UI"/>
              </a:rPr>
              <a:t>RSI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Segoe UI"/>
              </a:rPr>
              <a:t>%30 Ağırlık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2286000" cy="16459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64408" y="1417320"/>
            <a:ext cx="2743200" cy="146304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64408" y="1417320"/>
            <a:ext cx="27432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01568" y="15087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  <a:latin typeface="Segoe UI"/>
              </a:rPr>
              <a:t>MACD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19202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Segoe UI"/>
              </a:rPr>
              <a:t>%30 Ağırlık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93008" y="2560320"/>
            <a:ext cx="2286000" cy="1645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8776" y="1417320"/>
            <a:ext cx="2743200" cy="146304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1417320"/>
            <a:ext cx="2743200" cy="4572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15087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9FF14"/>
                </a:solidFill>
                <a:latin typeface="Segoe UI"/>
              </a:rPr>
              <a:t>Bollinger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19202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Segoe UI"/>
              </a:rPr>
              <a:t>%20 Ağırlık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37376" y="2560320"/>
            <a:ext cx="1524000" cy="164592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53144" y="1417320"/>
            <a:ext cx="2743200" cy="146304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53144" y="1417320"/>
            <a:ext cx="2743200" cy="4572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90304" y="15087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B86FC"/>
                </a:solidFill>
                <a:latin typeface="Segoe UI"/>
              </a:rPr>
              <a:t>MA Cross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0304" y="19202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Segoe UI"/>
              </a:rPr>
              <a:t>%20 Ağırlık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81744" y="2560320"/>
            <a:ext cx="1524000" cy="16459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3063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Segoe UI"/>
              </a:rPr>
              <a:t>▌ Karar Akışı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340156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Her gösterge  →  [-1 Sat / 0 Bekle / +1 Al]  →  Ağırlıklı toplam  →  Threshold kontrolü  →  Final Sinyal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886200"/>
            <a:ext cx="5486400" cy="2011680"/>
          </a:xfrm>
          <a:prstGeom prst="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886200"/>
            <a:ext cx="45720" cy="201168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8" y="3959352"/>
            <a:ext cx="5303520" cy="1874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BDBFF"/>
                </a:solidFill>
                <a:latin typeface="Consolas"/>
              </a:rPr>
              <a:t>RSI = 25   → +1 (Al)   × 0.30 = +0.30</a:t>
            </a:r>
          </a:p>
          <a:p>
            <a:r>
              <a:rPr sz="1200">
                <a:solidFill>
                  <a:srgbClr val="ABDBFF"/>
                </a:solidFill>
                <a:latin typeface="Consolas"/>
              </a:rPr>
              <a:t>MACD = ↑   → +1 (Al)   × 0.30 = +0.30</a:t>
            </a:r>
          </a:p>
          <a:p>
            <a:r>
              <a:rPr sz="1200">
                <a:solidFill>
                  <a:srgbClr val="ABDBFF"/>
                </a:solidFill>
                <a:latin typeface="Consolas"/>
              </a:rPr>
              <a:t>BB   = alt → +1 (Al)   × 0.20 = +0.20</a:t>
            </a:r>
          </a:p>
          <a:p>
            <a:r>
              <a:rPr sz="1200">
                <a:solidFill>
                  <a:srgbClr val="ABDBFF"/>
                </a:solidFill>
                <a:latin typeface="Consolas"/>
              </a:rPr>
              <a:t>MA   = ↑   → +1 (Al)   × 0.20 = +0.20</a:t>
            </a:r>
          </a:p>
          <a:p>
            <a:r>
              <a:rPr sz="1200">
                <a:solidFill>
                  <a:srgbClr val="ABDBFF"/>
                </a:solidFill>
                <a:latin typeface="Consolas"/>
              </a:rPr>
              <a:t>─────────────────────────────────────────</a:t>
            </a:r>
          </a:p>
          <a:p>
            <a:r>
              <a:rPr sz="1200">
                <a:solidFill>
                  <a:srgbClr val="ABDBFF"/>
                </a:solidFill>
                <a:latin typeface="Consolas"/>
              </a:rPr>
              <a:t>Toplam = +1.00  →  ✅ GÜÇLÜ ALIM SİNYALİ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3886200"/>
            <a:ext cx="5897880" cy="914400"/>
          </a:xfrm>
          <a:prstGeom prst="rect">
            <a:avLst/>
          </a:prstGeom>
          <a:solidFill>
            <a:srgbClr val="332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43600" y="3886200"/>
            <a:ext cx="54864" cy="9144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71616" y="3941064"/>
            <a:ext cx="5715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600"/>
                </a:solidFill>
                <a:latin typeface="Segoe UI"/>
              </a:rPr>
              <a:t>⚡ JÜRİ SORUSU: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71616" y="4160520"/>
            <a:ext cx="57150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ED80"/>
                </a:solidFill>
                <a:latin typeface="Segoe UI"/>
              </a:rPr>
              <a:t>Bu eşik değerlerini (0.30, 0.20) nasıl belirlediniz? Test ettiniz mi?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0" y="4892040"/>
            <a:ext cx="5897880" cy="1005840"/>
          </a:xfrm>
          <a:prstGeom prst="rect">
            <a:avLst/>
          </a:prstGeom>
          <a:solidFill>
            <a:srgbClr val="002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43600" y="4892040"/>
            <a:ext cx="54864" cy="10058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71616" y="4946904"/>
            <a:ext cx="5715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9FF14"/>
                </a:solidFill>
                <a:latin typeface="Segoe UI"/>
              </a:rPr>
              <a:t>✔ CEVAP: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71616" y="5166360"/>
            <a:ext cx="571500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FFCC"/>
                </a:solidFill>
                <a:latin typeface="Segoe UI"/>
              </a:rPr>
              <a:t>Finans literatüründe RSI ve MACD trend takibinde en güçlü göstergeler olarak kabul edilir, bu yüzden eşit ve daha yüksek ağırlık aldı. İleride grid search ile optimize edilebilir.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BB86FC"/>
                </a:solidFill>
                <a:latin typeface="Segoe UI"/>
              </a:rPr>
              <a:t>Derin Öğrenme: LSTM &amp; GRU + 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  <a:latin typeface="Segoe UI"/>
              </a:rPr>
              <a:t>TimeSeriesNet — PyTorch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097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B86FC"/>
                </a:solidFill>
                <a:latin typeface="Segoe UI"/>
              </a:rPr>
              <a:t>▌ Model Akış Şeması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63040"/>
            <a:ext cx="5303520" cy="65836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63040"/>
            <a:ext cx="54864" cy="6583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51790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Segoe UI"/>
              </a:rPr>
              <a:t>GİRDİ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517904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[batch × seq=60 × n_features]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12140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C5"/>
                </a:solidFill>
                <a:latin typeface="Segoe UI"/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286000"/>
            <a:ext cx="5303520" cy="65836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286000"/>
            <a:ext cx="54864" cy="658368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34086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B86FC"/>
                </a:solidFill>
                <a:latin typeface="Segoe UI"/>
              </a:rPr>
              <a:t>RNN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2340864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LSTM veya GRU  |  hidden=128, layers=3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94436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C5"/>
                </a:solidFill>
                <a:latin typeface="Segoe UI"/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108960"/>
            <a:ext cx="5303520" cy="65836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108960"/>
            <a:ext cx="54864" cy="65836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16382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Segoe UI"/>
              </a:rPr>
              <a:t>ATTENTION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3163824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softmax(Linear→Tanh→Linear) × rnn_output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376732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C5"/>
                </a:solidFill>
                <a:latin typeface="Segoe UI"/>
              </a:rPr>
              <a:t>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931920"/>
            <a:ext cx="5303520" cy="65836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931920"/>
            <a:ext cx="54864" cy="65836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98678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9FF14"/>
                </a:solidFill>
                <a:latin typeface="Segoe UI"/>
              </a:rPr>
              <a:t>FC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3986784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Dropout(0.3) → Linear(128→1)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459028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C5"/>
                </a:solidFill>
                <a:latin typeface="Segoe UI"/>
              </a:rPr>
              <a:t>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54880"/>
            <a:ext cx="5303520" cy="65836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54880"/>
            <a:ext cx="54864" cy="6583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80974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Segoe UI"/>
              </a:rPr>
              <a:t>ÇIKTI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83080" y="4809744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P(fiyat artacak) ∈ [0,1]  via sigmoid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1097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Segoe UI"/>
              </a:rPr>
              <a:t>▌ Focal Loss — Sınıf Dengesizliği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1463040"/>
            <a:ext cx="5897880" cy="2743200"/>
          </a:xfrm>
          <a:prstGeom prst="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43600" y="1463040"/>
            <a:ext cx="45720" cy="274320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53328" y="1536192"/>
            <a:ext cx="5715000" cy="2606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BDBFF"/>
                </a:solidFill>
                <a:latin typeface="Consolas"/>
              </a:rPr>
              <a:t># Focal Loss formülü:</a:t>
            </a:r>
          </a:p>
          <a:p>
            <a:r>
              <a:rPr sz="1000">
                <a:solidFill>
                  <a:srgbClr val="ABDBFF"/>
                </a:solidFill>
                <a:latin typeface="Consolas"/>
              </a:rPr>
              <a:t># FL = α × (1 - p_t)^γ × BCE</a:t>
            </a:r>
          </a:p>
          <a:p>
            <a:r>
              <a:rPr sz="1000">
                <a:solidFill>
                  <a:srgbClr val="ABDBFF"/>
                </a:solidFill>
                <a:latin typeface="Consolas"/>
              </a:rPr>
              <a:t>#</a:t>
            </a:r>
          </a:p>
          <a:p>
            <a:r>
              <a:rPr sz="1000">
                <a:solidFill>
                  <a:srgbClr val="ABDBFF"/>
                </a:solidFill>
                <a:latin typeface="Consolas"/>
              </a:rPr>
              <a:t># p_t  : modelin doğru sınıf için tahmin ettiği olasılık</a:t>
            </a:r>
          </a:p>
          <a:p>
            <a:r>
              <a:rPr sz="1000">
                <a:solidFill>
                  <a:srgbClr val="ABDBFF"/>
                </a:solidFill>
                <a:latin typeface="Consolas"/>
              </a:rPr>
              <a:t># γ=2  : kolay örneklerin katkısını bastırır</a:t>
            </a:r>
          </a:p>
          <a:p>
            <a:r>
              <a:rPr sz="1000">
                <a:solidFill>
                  <a:srgbClr val="ABDBFF"/>
                </a:solidFill>
                <a:latin typeface="Consolas"/>
              </a:rPr>
              <a:t># α=1  : pozitif sınıf ağırlığı</a:t>
            </a:r>
          </a:p>
          <a:p>
            <a:r>
              <a:rPr sz="1000">
                <a:solidFill>
                  <a:srgbClr val="ABDBFF"/>
                </a:solidFill>
                <a:latin typeface="Consolas"/>
              </a:rPr>
              <a:t>#</a:t>
            </a:r>
          </a:p>
          <a:p>
            <a:r>
              <a:rPr sz="1000">
                <a:solidFill>
                  <a:srgbClr val="ABDBFF"/>
                </a:solidFill>
                <a:latin typeface="Consolas"/>
              </a:rPr>
              <a:t># Eğer model örneği kolayca doğru sınıflandırıyorsa:</a:t>
            </a:r>
          </a:p>
          <a:p>
            <a:r>
              <a:rPr sz="1000">
                <a:solidFill>
                  <a:srgbClr val="ABDBFF"/>
                </a:solidFill>
                <a:latin typeface="Consolas"/>
              </a:rPr>
              <a:t>#   p_t yüksek → (1-p_t)^2 küçük → az katkı</a:t>
            </a:r>
          </a:p>
          <a:p>
            <a:r>
              <a:rPr sz="1000">
                <a:solidFill>
                  <a:srgbClr val="ABDBFF"/>
                </a:solidFill>
                <a:latin typeface="Consolas"/>
              </a:rPr>
              <a:t># Zor örneklerde:</a:t>
            </a:r>
          </a:p>
          <a:p>
            <a:r>
              <a:rPr sz="1000">
                <a:solidFill>
                  <a:srgbClr val="ABDBFF"/>
                </a:solidFill>
                <a:latin typeface="Consolas"/>
              </a:rPr>
              <a:t>#   p_t düşük → (1-p_t)^2 büyük → daha fazla odak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4343400"/>
            <a:ext cx="5897880" cy="146304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0" y="44074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B86FC"/>
                </a:solidFill>
                <a:latin typeface="Segoe UI"/>
              </a:rPr>
              <a:t>LSTM vs GRU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0" y="475488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Kapı Sayısı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0" y="475488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86FC"/>
                </a:solidFill>
                <a:latin typeface="Segoe UI"/>
              </a:rPr>
              <a:t>3 (forget/input/output)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46920" y="475488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9FF14"/>
                </a:solidFill>
                <a:latin typeface="Segoe UI"/>
              </a:rPr>
              <a:t>2 (reset/update)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0" y="507492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Parametre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507492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86FC"/>
                </a:solidFill>
                <a:latin typeface="Segoe UI"/>
              </a:rPr>
              <a:t>Daha fazla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6920" y="507492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9FF14"/>
                </a:solidFill>
                <a:latin typeface="Segoe UI"/>
              </a:rPr>
              <a:t>Daha az → hızlı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539496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Uzun seq.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80960" y="539496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86FC"/>
                </a:solidFill>
                <a:latin typeface="Segoe UI"/>
              </a:rPr>
              <a:t>Daha iyi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46920" y="539496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9FF14"/>
                </a:solidFill>
                <a:latin typeface="Segoe UI"/>
              </a:rPr>
              <a:t>Yakın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6144768"/>
            <a:ext cx="11521440" cy="548640"/>
          </a:xfrm>
          <a:prstGeom prst="rect">
            <a:avLst/>
          </a:prstGeom>
          <a:solidFill>
            <a:srgbClr val="332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20040" y="6144768"/>
            <a:ext cx="54864" cy="54864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8056" y="6199632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600"/>
                </a:solidFill>
                <a:latin typeface="Segoe UI"/>
              </a:rPr>
              <a:t>⚡ JÜRİ SORUSU: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8056" y="6419088"/>
            <a:ext cx="11338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ED80"/>
                </a:solidFill>
                <a:latin typeface="Segoe UI"/>
              </a:rPr>
              <a:t>Attention olmadan sonuç nasıl değişir? BCEWithLogitsLoss kullanıp inference'da neden sigmoid eklediniz?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9FF14"/>
                </a:solidFill>
                <a:latin typeface="Segoe UI"/>
              </a:rPr>
              <a:t>Klasik ML: Random Forest &amp; XGBoost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  <a:latin typeface="Segoe UI"/>
              </a:rPr>
              <a:t>Tablolu Özellik Vektörleri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5577840" cy="237744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5577840" cy="36576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1887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FF14"/>
                </a:solidFill>
                <a:latin typeface="Segoe UI"/>
              </a:rPr>
              <a:t>Random Forest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81328"/>
            <a:ext cx="539496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• N adet karar ağacı → çoğunluk oylaması
• Her ağaç rastgele özellik altümesi kullanır (feature bagging)
• Aşırı öğrenmeye karşı güçlü (bias-variance tradeoff)
• class_weight='balanced' → sınıf dengesizliği
• Feature importance sıralaması mümkün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097280"/>
            <a:ext cx="5577840" cy="237744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89320" y="1097280"/>
            <a:ext cx="557784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8" y="11887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Segoe UI"/>
              </a:rPr>
              <a:t>XGBoost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8" y="1481328"/>
            <a:ext cx="539496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• Gradient boosting: her yeni ağaç öncekinin hatalarını hedefler
• L1 (lasso) + L2 (ridge) düzenlileştirme → daha iyi genelleme
• scale_pos_weight → dengesiz sınıf ağırlığı
• Genellikle tablolu veride LSTM'yi geçer
• Hız avantajı: CPU'da çok hızlı eğitim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611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Segoe UI"/>
              </a:rPr>
              <a:t>▌ ML Girdi Özellikleri (13 özellik)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950208"/>
            <a:ext cx="2148840" cy="347472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400507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9FF14"/>
                </a:solidFill>
                <a:latin typeface="Segoe UI"/>
              </a:rPr>
              <a:t>Open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0" y="3950208"/>
            <a:ext cx="2148840" cy="347472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0" y="400507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9FF14"/>
                </a:solidFill>
                <a:latin typeface="Segoe UI"/>
              </a:rPr>
              <a:t>High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83479" y="3950208"/>
            <a:ext cx="2148840" cy="347472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4919" y="400507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9FF14"/>
                </a:solidFill>
                <a:latin typeface="Segoe UI"/>
              </a:rPr>
              <a:t>Low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199" y="3950208"/>
            <a:ext cx="2148840" cy="347472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39" y="400507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9FF14"/>
                </a:solidFill>
                <a:latin typeface="Segoe UI"/>
              </a:rPr>
              <a:t>Close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46919" y="3950208"/>
            <a:ext cx="2148840" cy="347472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38359" y="400507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9FF14"/>
                </a:solidFill>
                <a:latin typeface="Segoe UI"/>
              </a:rPr>
              <a:t>Volume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389120"/>
            <a:ext cx="2148840" cy="347472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444398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9FF14"/>
                </a:solidFill>
                <a:latin typeface="Segoe UI"/>
              </a:rPr>
              <a:t>RSI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51760" y="4389120"/>
            <a:ext cx="2148840" cy="347472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0" y="444398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9FF14"/>
                </a:solidFill>
                <a:latin typeface="Segoe UI"/>
              </a:rPr>
              <a:t>MACD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83479" y="4389120"/>
            <a:ext cx="2148840" cy="347472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74919" y="444398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9FF14"/>
                </a:solidFill>
                <a:latin typeface="Segoe UI"/>
              </a:rPr>
              <a:t>MACD_Signal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199" y="4389120"/>
            <a:ext cx="2148840" cy="347472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06639" y="444398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9FF14"/>
                </a:solidFill>
                <a:latin typeface="Segoe UI"/>
              </a:rPr>
              <a:t>BB_High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46919" y="4389120"/>
            <a:ext cx="2148840" cy="347472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59" y="444398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9FF14"/>
                </a:solidFill>
                <a:latin typeface="Segoe UI"/>
              </a:rPr>
              <a:t>BB_Low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828032"/>
            <a:ext cx="2148840" cy="347472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488289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9FF14"/>
                </a:solidFill>
                <a:latin typeface="Segoe UI"/>
              </a:rPr>
              <a:t>BB_Mid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51760" y="4828032"/>
            <a:ext cx="2148840" cy="347472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0" y="488289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9FF14"/>
                </a:solidFill>
                <a:latin typeface="Segoe UI"/>
              </a:rPr>
              <a:t>SMA_20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83479" y="4828032"/>
            <a:ext cx="2148840" cy="347472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4919" y="488289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9FF14"/>
                </a:solidFill>
                <a:latin typeface="Segoe UI"/>
              </a:rPr>
              <a:t>EMA_50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5120640"/>
            <a:ext cx="11521440" cy="822960"/>
          </a:xfrm>
          <a:prstGeom prst="rect">
            <a:avLst/>
          </a:prstGeom>
          <a:solidFill>
            <a:srgbClr val="0A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193792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86FC"/>
                </a:solidFill>
                <a:latin typeface="Segoe UI"/>
              </a:rPr>
              <a:t>DL (LSTM/GRU):  Ham zaman serisi pencereleri  [60 adım × n_features]  →  Sekans bağımlılığı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5532120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9FF14"/>
                </a:solidFill>
                <a:latin typeface="Segoe UI"/>
              </a:rPr>
              <a:t>ML (RF/XGB):    Tek adım özellik vektörü  [13 özellik]  →  Anlık snapshot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6144768"/>
            <a:ext cx="11521440" cy="548640"/>
          </a:xfrm>
          <a:prstGeom prst="rect">
            <a:avLst/>
          </a:prstGeom>
          <a:solidFill>
            <a:srgbClr val="332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0040" y="6144768"/>
            <a:ext cx="54864" cy="54864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8056" y="6199632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600"/>
                </a:solidFill>
                <a:latin typeface="Segoe UI"/>
              </a:rPr>
              <a:t>⚡ JÜRİ SORUSU: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8056" y="6419088"/>
            <a:ext cx="11338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ED80"/>
                </a:solidFill>
                <a:latin typeface="Segoe UI"/>
              </a:rPr>
              <a:t>LSTM mi yoksa XGBoost mi daha iyi sonuç verdi? Neden ikisinide kullandınız?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FF"/>
                </a:solidFill>
                <a:latin typeface="Segoe UI"/>
              </a:rPr>
              <a:t>Ensemble: Stacking Modeli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  <a:latin typeface="Segoe UI"/>
              </a:rPr>
              <a:t>4 Base Model + Gradient Boosting Meta-Learner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097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Segoe UI"/>
              </a:rPr>
              <a:t>▌ Stacking Mimarisi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63040"/>
            <a:ext cx="2651760" cy="10972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63040"/>
            <a:ext cx="2651760" cy="4572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7276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B86FC"/>
                </a:solidFill>
                <a:latin typeface="Segoe UI"/>
              </a:rPr>
              <a:t>LSTM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9339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P(↑) ∈ [0,1]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560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BEC5"/>
                </a:solidFill>
                <a:latin typeface="Segoe UI"/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64408" y="1463040"/>
            <a:ext cx="2651760" cy="10972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64408" y="1463040"/>
            <a:ext cx="265176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01568" y="157276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B35"/>
                </a:solidFill>
                <a:latin typeface="Segoe UI"/>
              </a:rPr>
              <a:t>GRU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199339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P(↑) ∈ [0,1]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8" y="2560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BEC5"/>
                </a:solidFill>
                <a:latin typeface="Segoe UI"/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8776" y="1463040"/>
            <a:ext cx="2651760" cy="10972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1463040"/>
            <a:ext cx="2651760" cy="4572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157276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9FF14"/>
                </a:solidFill>
                <a:latin typeface="Segoe UI"/>
              </a:rPr>
              <a:t>Random Forest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199339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P(↑) ∈ [0,1]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7496" y="2560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BEC5"/>
                </a:solidFill>
                <a:latin typeface="Segoe UI"/>
              </a:rPr>
              <a:t>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53144" y="1463040"/>
            <a:ext cx="2651760" cy="10972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53144" y="1463040"/>
            <a:ext cx="265176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90304" y="157276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  <a:latin typeface="Segoe UI"/>
              </a:rPr>
              <a:t>XGBoost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0304" y="199339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P(↑) ∈ [0,1]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41864" y="2560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BEC5"/>
                </a:solidFill>
                <a:latin typeface="Segoe UI"/>
              </a:rPr>
              <a:t>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0" y="2880360"/>
            <a:ext cx="5486400" cy="1005840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0" y="2880360"/>
            <a:ext cx="548640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0" y="296265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  <a:latin typeface="Segoe UI"/>
              </a:rPr>
              <a:t>Meta-Learner: GradientBoosting Classifier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336499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EC5"/>
                </a:solidFill>
                <a:latin typeface="Segoe UI"/>
              </a:rPr>
              <a:t>Girdi: [lstm_p, gru_p, rf_p, xgb_p]  →  Final Karar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391363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BEC5"/>
                </a:solidFill>
                <a:latin typeface="Segoe UI"/>
              </a:rPr>
              <a:t>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89120" y="4206240"/>
            <a:ext cx="3200400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0" y="425196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egoe UI"/>
              </a:rPr>
              <a:t>AL / BEKLE / SAT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800600"/>
            <a:ext cx="11521440" cy="1097280"/>
          </a:xfrm>
          <a:prstGeom prst="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800600"/>
            <a:ext cx="45720" cy="109728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9768" y="4873752"/>
            <a:ext cx="1133856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BDBFF"/>
                </a:solidFill>
                <a:latin typeface="Consolas"/>
              </a:rPr>
              <a:t># Neden Stacking?</a:t>
            </a:r>
          </a:p>
          <a:p>
            <a:r>
              <a:rPr sz="1100">
                <a:solidFill>
                  <a:srgbClr val="ABDBFF"/>
                </a:solidFill>
                <a:latin typeface="Consolas"/>
              </a:rPr>
              <a:t># LSTM   → uzun vadeli zaman bağımlılıkları</a:t>
            </a:r>
          </a:p>
          <a:p>
            <a:r>
              <a:rPr sz="1100">
                <a:solidFill>
                  <a:srgbClr val="ABDBFF"/>
                </a:solidFill>
                <a:latin typeface="Consolas"/>
              </a:rPr>
              <a:t># GRU    → kısa-orta vadeli sekans</a:t>
            </a:r>
          </a:p>
          <a:p>
            <a:r>
              <a:rPr sz="1100">
                <a:solidFill>
                  <a:srgbClr val="ABDBFF"/>
                </a:solidFill>
                <a:latin typeface="Consolas"/>
              </a:rPr>
              <a:t># RF     → sınıf sınırlarını ağaçla yakalar</a:t>
            </a:r>
          </a:p>
          <a:p>
            <a:r>
              <a:rPr sz="1100">
                <a:solidFill>
                  <a:srgbClr val="ABDBFF"/>
                </a:solidFill>
                <a:latin typeface="Consolas"/>
              </a:rPr>
              <a:t># XGBoost→ özellik etkileşimlerini gradient ile öğrenir</a:t>
            </a:r>
          </a:p>
          <a:p>
            <a:r>
              <a:rPr sz="1100">
                <a:solidFill>
                  <a:srgbClr val="ABDBFF"/>
                </a:solidFill>
                <a:latin typeface="Consolas"/>
              </a:rPr>
              <a:t>#</a:t>
            </a:r>
          </a:p>
          <a:p>
            <a:r>
              <a:rPr sz="1100">
                <a:solidFill>
                  <a:srgbClr val="ABDBFF"/>
                </a:solidFill>
                <a:latin typeface="Consolas"/>
              </a:rPr>
              <a:t># Meta-learner: hangi model ne zaman güvenilir? → öğrenir</a:t>
            </a:r>
          </a:p>
          <a:p>
            <a:r>
              <a:rPr sz="1100">
                <a:solidFill>
                  <a:srgbClr val="ABDBFF"/>
                </a:solidFill>
                <a:latin typeface="Consolas"/>
              </a:rPr>
              <a:t># Sonuç: tek modelden daha düşük varyans (bias-variance)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6144768"/>
            <a:ext cx="11521440" cy="548640"/>
          </a:xfrm>
          <a:prstGeom prst="rect">
            <a:avLst/>
          </a:prstGeom>
          <a:solidFill>
            <a:srgbClr val="332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0040" y="6144768"/>
            <a:ext cx="54864" cy="54864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8056" y="6199632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600"/>
                </a:solidFill>
                <a:latin typeface="Segoe UI"/>
              </a:rPr>
              <a:t>⚡ JÜRİ SORUSU: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056" y="6419088"/>
            <a:ext cx="11338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ED80"/>
                </a:solidFill>
                <a:latin typeface="Segoe UI"/>
              </a:rPr>
              <a:t>Inference sırasında neden BCEWithLogitsLoss sonrası sigmoid eklediniz? Eklemeseydik ne olurdu?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6B35"/>
                </a:solidFill>
                <a:latin typeface="Segoe UI"/>
              </a:rPr>
              <a:t>Pekiştirmeli Öğrenme: PPO Ajanı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  <a:latin typeface="Segoe UI"/>
              </a:rPr>
              <a:t>Custom Gymnasium Ortamı + Risk-Adjusted Ödül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097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Segoe UI"/>
              </a:rPr>
              <a:t>▌ TradingEnv — Ortam Tasarımı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63040"/>
            <a:ext cx="5303520" cy="45720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4533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Segoe UI"/>
              </a:rPr>
              <a:t>Aksiyon Uzayı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1545336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Discrete(3) — 0=Sat  1=Bekle  2=Al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011680"/>
            <a:ext cx="5303520" cy="45720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09397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Segoe UI"/>
              </a:rPr>
              <a:t>Gözlem Uzayı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093976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Box(10,) — Sürekli değerler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560320"/>
            <a:ext cx="5303520" cy="45720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4261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Segoe UI"/>
              </a:rPr>
              <a:t>Başlangıç Bakiye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2642616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$10,000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108960"/>
            <a:ext cx="5303520" cy="45720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19125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Segoe UI"/>
              </a:rPr>
              <a:t>İşlem Ücreti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3191256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%0.1 per trade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37307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Segoe UI"/>
              </a:rPr>
              <a:t>▌ 10 Gözlem Özelliği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114800"/>
            <a:ext cx="2148840" cy="347472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3192" y="416966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6B35"/>
                </a:solidFill>
                <a:latin typeface="Segoe UI"/>
              </a:rPr>
              <a:t>bakiye / initial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51760" y="4114800"/>
            <a:ext cx="2148840" cy="347472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24912" y="416966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6B35"/>
                </a:solidFill>
                <a:latin typeface="Segoe UI"/>
              </a:rPr>
              <a:t>net_worth / initial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79" y="4114800"/>
            <a:ext cx="2148840" cy="347472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56631" y="416966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6B35"/>
                </a:solidFill>
                <a:latin typeface="Segoe UI"/>
              </a:rPr>
              <a:t>meta_sinyal_prob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199" y="4114800"/>
            <a:ext cx="2148840" cy="347472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88351" y="416966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6B35"/>
                </a:solidFill>
                <a:latin typeface="Segoe UI"/>
              </a:rPr>
              <a:t>normalize_fiyat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19" y="4114800"/>
            <a:ext cx="2148840" cy="347472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20071" y="416966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6B35"/>
                </a:solidFill>
                <a:latin typeface="Segoe UI"/>
              </a:rPr>
              <a:t>RSI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553712"/>
            <a:ext cx="2148840" cy="347472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" y="460857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6B35"/>
                </a:solidFill>
                <a:latin typeface="Segoe UI"/>
              </a:rPr>
              <a:t>MACD_signal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760" y="4553712"/>
            <a:ext cx="2148840" cy="347472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24912" y="460857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6B35"/>
                </a:solidFill>
                <a:latin typeface="Segoe UI"/>
              </a:rPr>
              <a:t>5g_fiyat_değişimi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83479" y="4553712"/>
            <a:ext cx="2148840" cy="347472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56631" y="460857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6B35"/>
                </a:solidFill>
                <a:latin typeface="Segoe UI"/>
              </a:rPr>
              <a:t>20g_volatilite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199" y="4553712"/>
            <a:ext cx="2148840" cy="347472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88351" y="460857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6B35"/>
                </a:solidFill>
                <a:latin typeface="Segoe UI"/>
              </a:rPr>
              <a:t>hacim_oranı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46919" y="4553712"/>
            <a:ext cx="2148840" cy="347472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20071" y="460857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6B35"/>
                </a:solidFill>
                <a:latin typeface="Segoe UI"/>
              </a:rPr>
              <a:t>pozisyon_oranı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0" y="1463040"/>
            <a:ext cx="5897880" cy="3657600"/>
          </a:xfrm>
          <a:prstGeom prst="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943600" y="1463040"/>
            <a:ext cx="45720" cy="365760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53328" y="1536192"/>
            <a:ext cx="5715000" cy="3520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BDBFF"/>
                </a:solidFill>
                <a:latin typeface="Consolas"/>
              </a:rPr>
              <a:t># Ödül Fonksiyonu (3 Bileşen)</a:t>
            </a:r>
          </a:p>
          <a:p>
            <a:r>
              <a:rPr sz="1000">
                <a:solidFill>
                  <a:srgbClr val="ABDBFF"/>
                </a:solidFill>
                <a:latin typeface="Consolas"/>
              </a:rPr>
              <a:t>delta = (net_worth - prev_worth) / initial</a:t>
            </a:r>
          </a:p>
          <a:p>
            <a:r>
              <a:rPr sz="1000">
                <a:solidFill>
                  <a:srgbClr val="ABDBFF"/>
                </a:solidFill>
                <a:latin typeface="Consolas"/>
              </a:rPr>
              <a:t>drawdown = (max_worth - net_worth) / max_worth</a:t>
            </a:r>
          </a:p>
          <a:p>
            <a:r>
              <a:rPr sz="1000">
                <a:solidFill>
                  <a:srgbClr val="ABDBFF"/>
                </a:solidFill>
                <a:latin typeface="Consolas"/>
              </a:rPr>
              <a:t>trade_pen = 0.001 if action != HOLD else 0.0</a:t>
            </a:r>
          </a:p>
          <a:p>
            <a:r>
              <a:rPr sz="1000">
                <a:solidFill>
                  <a:srgbClr val="ABDBFF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ABDBFF"/>
                </a:solidFill>
                <a:latin typeface="Consolas"/>
              </a:rPr>
              <a:t>reward = delta - 0.5*drawdown - trade_pen</a:t>
            </a:r>
          </a:p>
          <a:p>
            <a:r>
              <a:rPr sz="1000">
                <a:solidFill>
                  <a:srgbClr val="ABDBFF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ABDBFF"/>
                </a:solidFill>
                <a:latin typeface="Consolas"/>
              </a:rPr>
              <a:t># Neden PPO?</a:t>
            </a:r>
          </a:p>
          <a:p>
            <a:r>
              <a:rPr sz="1000">
                <a:solidFill>
                  <a:srgbClr val="ABDBFF"/>
                </a:solidFill>
                <a:latin typeface="Consolas"/>
              </a:rPr>
              <a:t># DQN: Q-value, ayrık aksiyonlar — sample inefficient</a:t>
            </a:r>
          </a:p>
          <a:p>
            <a:r>
              <a:rPr sz="1000">
                <a:solidFill>
                  <a:srgbClr val="ABDBFF"/>
                </a:solidFill>
                <a:latin typeface="Consolas"/>
              </a:rPr>
              <a:t># A3C: paralel ortam gerektirir — karmaşık setup</a:t>
            </a:r>
          </a:p>
          <a:p>
            <a:r>
              <a:rPr sz="1000">
                <a:solidFill>
                  <a:srgbClr val="ABDBFF"/>
                </a:solidFill>
                <a:latin typeface="Consolas"/>
              </a:rPr>
              <a:t># PPO: on-policy, clipped objective — KARALI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6144768"/>
            <a:ext cx="11521440" cy="548640"/>
          </a:xfrm>
          <a:prstGeom prst="rect">
            <a:avLst/>
          </a:prstGeom>
          <a:solidFill>
            <a:srgbClr val="332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" y="6144768"/>
            <a:ext cx="54864" cy="54864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8056" y="6199632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600"/>
                </a:solidFill>
                <a:latin typeface="Segoe UI"/>
              </a:rPr>
              <a:t>⚡ JÜRİ SORUSU: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8056" y="6419088"/>
            <a:ext cx="11338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ED80"/>
                </a:solidFill>
                <a:latin typeface="Segoe UI"/>
              </a:rPr>
              <a:t>Ödül fonksiyonunda neden drawdown cezası var? Sadece kar maksimize etmek yetmez miydi?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BB86FC"/>
                </a:solidFill>
                <a:latin typeface="Segoe UI"/>
              </a:rPr>
              <a:t>Overfitting Önlemleri &amp; Kritik Tasarım Kararları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  <a:latin typeface="Segoe UI"/>
              </a:rPr>
              <a:t>Gerçek Uygulama Zorlukları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097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B86FC"/>
                </a:solidFill>
                <a:latin typeface="Segoe UI"/>
              </a:rPr>
              <a:t>▌ Overfitting'e Karşı Alınan Önlemler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63040"/>
            <a:ext cx="11521440" cy="68580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63040"/>
            <a:ext cx="54864" cy="68580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5361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B86FC"/>
                </a:solidFill>
                <a:latin typeface="Segoe UI"/>
              </a:rPr>
              <a:t>DL Modeller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15361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Dropout %30 · Early Stopping · Train/Val/Test split zaman sıralı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267712"/>
            <a:ext cx="11521440" cy="68580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267712"/>
            <a:ext cx="54864" cy="68580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34086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B86FC"/>
                </a:solidFill>
                <a:latin typeface="Segoe UI"/>
              </a:rPr>
              <a:t>ML Modeller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2340864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TimeSeriesSplit CV (shuffle yok!) · max_depth kısıtı · n_estimators limiti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072384"/>
            <a:ext cx="11521440" cy="68580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3072384"/>
            <a:ext cx="54864" cy="68580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14553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B86FC"/>
                </a:solidFill>
                <a:latin typeface="Segoe UI"/>
              </a:rPr>
              <a:t>RL Ajanı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3145536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Train=BTC verisi · Val=ETH · Test=SOL  (farklı coin → genelleme testi)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877056"/>
            <a:ext cx="11521440" cy="68580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877056"/>
            <a:ext cx="54864" cy="68580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9502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B86FC"/>
                </a:solidFill>
                <a:latin typeface="Segoe UI"/>
              </a:rPr>
              <a:t>Veri Ölçekleme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395020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scaler.fit(X_train) ONLY — test'e sadece .transform()  (look-ahead bias önlemi)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4800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Segoe UI"/>
              </a:rPr>
              <a:t>▌ Karşılaşılan Kritik Hata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120640"/>
            <a:ext cx="7315200" cy="1097280"/>
          </a:xfrm>
          <a:prstGeom prst="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5120640"/>
            <a:ext cx="45720" cy="109728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" y="5193792"/>
            <a:ext cx="71323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BDBFF"/>
                </a:solidFill>
                <a:latin typeface="Consolas"/>
              </a:rPr>
              <a:t># YANLIŞ (look-ahead bias):</a:t>
            </a:r>
          </a:p>
          <a:p>
            <a:r>
              <a:rPr sz="1100">
                <a:solidFill>
                  <a:srgbClr val="ABDBFF"/>
                </a:solidFill>
                <a:latin typeface="Consolas"/>
              </a:rPr>
              <a:t>scaler.fit_transform(X_all)   # ← test istatistikleri eğitime sızar!</a:t>
            </a:r>
          </a:p>
          <a:p>
            <a:r>
              <a:rPr sz="1100">
                <a:solidFill>
                  <a:srgbClr val="ABDBFF"/>
                </a:solidFill>
                <a:latin typeface="Consolas"/>
              </a:rPr>
              <a:t/>
            </a:r>
          </a:p>
          <a:p>
            <a:r>
              <a:rPr sz="1100">
                <a:solidFill>
                  <a:srgbClr val="ABDBFF"/>
                </a:solidFill>
                <a:latin typeface="Consolas"/>
              </a:rPr>
              <a:t># DOĞRU:</a:t>
            </a:r>
          </a:p>
          <a:p>
            <a:r>
              <a:rPr sz="1100">
                <a:solidFill>
                  <a:srgbClr val="ABDBFF"/>
                </a:solidFill>
                <a:latin typeface="Consolas"/>
              </a:rPr>
              <a:t>scaler.fit(X_train)           # sadece train üzerinde fit</a:t>
            </a:r>
          </a:p>
          <a:p>
            <a:r>
              <a:rPr sz="1100">
                <a:solidFill>
                  <a:srgbClr val="ABDBFF"/>
                </a:solidFill>
                <a:latin typeface="Consolas"/>
              </a:rPr>
              <a:t>X_train = scaler.transform(X_train)</a:t>
            </a:r>
          </a:p>
          <a:p>
            <a:r>
              <a:rPr sz="1100">
                <a:solidFill>
                  <a:srgbClr val="ABDBFF"/>
                </a:solidFill>
                <a:latin typeface="Consolas"/>
              </a:rPr>
              <a:t>X_test  = scaler.transform(X_test)   # sadece transform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3840" y="5120640"/>
            <a:ext cx="3977639" cy="1097280"/>
          </a:xfrm>
          <a:prstGeom prst="rect">
            <a:avLst/>
          </a:prstGeom>
          <a:solidFill>
            <a:srgbClr val="332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63840" y="5120640"/>
            <a:ext cx="54864" cy="109728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91856" y="5175504"/>
            <a:ext cx="37947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600"/>
                </a:solidFill>
                <a:latin typeface="Segoe UI"/>
              </a:rPr>
              <a:t>⚡ JÜRİ SORUSU: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1856" y="5394960"/>
            <a:ext cx="3794759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ED80"/>
                </a:solidFill>
                <a:latin typeface="Segoe UI"/>
              </a:rPr>
              <a:t>Look-ahead bias neden bu kadar kritik? Ölçekleme sırası neden önemli?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6B35"/>
                </a:solidFill>
                <a:latin typeface="Segoe UI"/>
              </a:rPr>
              <a:t>Bilinen Sorunlar &amp; Kısıtlamalar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  <a:latin typeface="Segoe UI"/>
              </a:rPr>
              <a:t>Dürüst Değerlendirme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11521440" cy="1170432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54864" cy="11704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5214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Segoe UI"/>
              </a:rPr>
              <a:t>Sınıf Dengesizliği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17904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⚠  LSTM çoğunluk sınıfa (HOLD) bias gösteriyor. Fiyat 'büyük hareket' günleri azınlık sınıf.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1152144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9FF14"/>
                </a:solidFill>
                <a:latin typeface="Segoe UI"/>
              </a:rPr>
              <a:t>✔  Focal Loss (γ=2), class_weight='balanced' (RF), scale_pos_weight (XGBoost)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395728"/>
            <a:ext cx="11521440" cy="1170432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395728"/>
            <a:ext cx="54864" cy="11704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45059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Segoe UI"/>
              </a:rPr>
              <a:t>RL Overfitting Riski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816352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⚠  SOL simülasyonunda %4000+ getiri → gerçekte bu kadar yüksek olmaz. Backtest optimizm yanılsaması.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450592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9FF14"/>
                </a:solidFill>
                <a:latin typeface="Segoe UI"/>
              </a:rPr>
              <a:t>✔  Farklı coin ile out-of-sample test. Gerçek trading'de paper trading zorunlu.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694176"/>
            <a:ext cx="11521440" cy="1170432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694176"/>
            <a:ext cx="54864" cy="1170432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7490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FF14"/>
                </a:solidFill>
                <a:latin typeface="Segoe UI"/>
              </a:rPr>
              <a:t>Look-Ahead Bias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114800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⚠  Veri önişlemede scaler tüm sete fit edilirse gelecek bilgisi sızar → yanlış sonuç.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3749040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9FF14"/>
                </a:solidFill>
                <a:latin typeface="Segoe UI"/>
              </a:rPr>
              <a:t>✔  scaler.fit() sadece train setine uygulandı. TimeSeriesSplit kullanıldı.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992624"/>
            <a:ext cx="11521440" cy="1170432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4992624"/>
            <a:ext cx="54864" cy="11704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0474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Segoe UI"/>
              </a:rPr>
              <a:t>İşlem Maliyetleri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413248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⚠  Simülasyonda %0.1 sabit ücret → gerçekte spread, slippage ve vergi de var.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5047488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9FF14"/>
                </a:solidFill>
                <a:latin typeface="Segoe UI"/>
              </a:rPr>
              <a:t>✔  Daha gerçekçi maliyet modeli veya gerçek broker API ile paper trading.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6144768"/>
            <a:ext cx="11521440" cy="548640"/>
          </a:xfrm>
          <a:prstGeom prst="rect">
            <a:avLst/>
          </a:prstGeom>
          <a:solidFill>
            <a:srgbClr val="332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6144768"/>
            <a:ext cx="54864" cy="54864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" y="6199632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600"/>
                </a:solidFill>
                <a:latin typeface="Segoe UI"/>
              </a:rPr>
              <a:t>⚡ JÜRİ SORUSU: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" y="6419088"/>
            <a:ext cx="11338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ED80"/>
                </a:solidFill>
                <a:latin typeface="Segoe UI"/>
              </a:rPr>
              <a:t>RL'de %4000 getiri gördünüzde ne düşündünüz? Bu sonuç gerçekçi mi?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9FF14"/>
                </a:solidFill>
                <a:latin typeface="Segoe UI"/>
              </a:rPr>
              <a:t>Dashboard &amp; Test Paketi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  <a:latin typeface="Segoe UI"/>
              </a:rPr>
              <a:t>Streamlit + 8 Kategorili Test 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097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FF14"/>
                </a:solidFill>
                <a:latin typeface="Segoe UI"/>
              </a:rPr>
              <a:t>▌ Streamlit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60020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9FF14"/>
                </a:solidFill>
                <a:latin typeface="Segoe UI"/>
              </a:rP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Gerçek zamanlı mum grafikleri (Plotly)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984248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9FF14"/>
                </a:solidFill>
                <a:latin typeface="Segoe UI"/>
              </a:rP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84248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Bollinger Bands, RSI, MACD overlay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368296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9FF14"/>
                </a:solidFill>
                <a:latin typeface="Segoe UI"/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68296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Model olasılık dağılımı gösterimi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752344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9FF14"/>
                </a:solidFill>
                <a:latin typeface="Segoe UI"/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752344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Portföy performans takibi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136392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9FF14"/>
                </a:solidFill>
                <a:latin typeface="Segoe UI"/>
              </a:rP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136392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Eğitim loss/accuracy eğrileri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343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Segoe UI"/>
              </a:rPr>
              <a:t>▌ CLI — 20+ Komut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754880"/>
            <a:ext cx="5486400" cy="1920240"/>
          </a:xfrm>
          <a:prstGeom prst="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4754880"/>
            <a:ext cx="45720" cy="192024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" y="4828032"/>
            <a:ext cx="5303520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BDBFF"/>
                </a:solidFill>
                <a:latin typeface="Consolas"/>
              </a:rPr>
              <a:t>python main.py collect      # Veri topla</a:t>
            </a:r>
          </a:p>
          <a:p>
            <a:r>
              <a:rPr sz="1100">
                <a:solidFill>
                  <a:srgbClr val="ABDBFF"/>
                </a:solidFill>
                <a:latin typeface="Consolas"/>
              </a:rPr>
              <a:t>python main.py indicators   # Gösterge hesapla</a:t>
            </a:r>
          </a:p>
          <a:p>
            <a:r>
              <a:rPr sz="1100">
                <a:solidFill>
                  <a:srgbClr val="ABDBFF"/>
                </a:solidFill>
                <a:latin typeface="Consolas"/>
              </a:rPr>
              <a:t>python main.py train-dl     # DL modeli eğit</a:t>
            </a:r>
          </a:p>
          <a:p>
            <a:r>
              <a:rPr sz="1100">
                <a:solidFill>
                  <a:srgbClr val="ABDBFF"/>
                </a:solidFill>
                <a:latin typeface="Consolas"/>
              </a:rPr>
              <a:t>python main.py train-rl     # PPO ajanı eğit</a:t>
            </a:r>
          </a:p>
          <a:p>
            <a:r>
              <a:rPr sz="1100">
                <a:solidFill>
                  <a:srgbClr val="ABDBFF"/>
                </a:solidFill>
                <a:latin typeface="Consolas"/>
              </a:rPr>
              <a:t>python main.py ensemble     # Ensemble çalıştır</a:t>
            </a:r>
          </a:p>
          <a:p>
            <a:r>
              <a:rPr sz="1100">
                <a:solidFill>
                  <a:srgbClr val="ABDBFF"/>
                </a:solidFill>
                <a:latin typeface="Consolas"/>
              </a:rPr>
              <a:t>python main.py dashboard    # Web UI başlat</a:t>
            </a:r>
          </a:p>
          <a:p>
            <a:r>
              <a:rPr sz="1100">
                <a:solidFill>
                  <a:srgbClr val="ABDBFF"/>
                </a:solidFill>
                <a:latin typeface="Consolas"/>
              </a:rPr>
              <a:t>python main.py test         # Tüm testleri çalıştır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1097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Segoe UI"/>
              </a:rPr>
              <a:t>▌ 8 Kategorili Test Paketi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1463040"/>
            <a:ext cx="5897880" cy="512064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89320" y="1463040"/>
            <a:ext cx="292608" cy="5120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89320" y="1536192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Segoe U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151790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Veri toplama testi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151790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Segoe UI"/>
              </a:rPr>
              <a:t>API bağlantısı + kayıt kontrolü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9320" y="2057400"/>
            <a:ext cx="5897880" cy="512064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89320" y="2057400"/>
            <a:ext cx="292608" cy="5120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89320" y="2130552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Segoe U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211226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Veritabanı bütünlük testi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211226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Segoe UI"/>
              </a:rPr>
              <a:t>Tablo şeması + FK kontrolleri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89320" y="2651760"/>
            <a:ext cx="5897880" cy="512064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89320" y="2651760"/>
            <a:ext cx="292608" cy="5120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89320" y="2724912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Segoe UI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270662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Gösterge hesaplama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270662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Segoe UI"/>
              </a:rPr>
              <a:t>Formül doğruluğu, NaN kontrolü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89320" y="3246120"/>
            <a:ext cx="5897880" cy="512064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89320" y="3246120"/>
            <a:ext cx="292608" cy="5120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89320" y="3319272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Segoe UI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330098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Sinyal üreteci testi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78240" y="330098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Segoe UI"/>
              </a:rPr>
              <a:t>Ağırlıklı karar doğruluğu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89320" y="3840480"/>
            <a:ext cx="5897880" cy="512064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989320" y="3840480"/>
            <a:ext cx="292608" cy="5120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89320" y="3913632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Segoe UI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389534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ML model yükleme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78240" y="389534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Segoe UI"/>
              </a:rPr>
              <a:t>pkl dosyası + predict_proba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89320" y="4434840"/>
            <a:ext cx="5897880" cy="512064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989320" y="4434840"/>
            <a:ext cx="292608" cy="5120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89320" y="4507992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Segoe UI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5080" y="448970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DL model inference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78240" y="448970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Segoe UI"/>
              </a:rPr>
              <a:t>pth dosyası + sigmoid çıktı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89320" y="5029200"/>
            <a:ext cx="5897880" cy="512064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989320" y="5029200"/>
            <a:ext cx="292608" cy="5120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89320" y="5102352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Segoe UI"/>
              </a:rPr>
              <a:t>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55080" y="508406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RL ortam testi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78240" y="508406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Segoe UI"/>
              </a:rPr>
              <a:t>Gymnasium reset/step doğrulama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89320" y="5623560"/>
            <a:ext cx="5897880" cy="512064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989320" y="5623560"/>
            <a:ext cx="292608" cy="5120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89320" y="5696712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Segoe UI"/>
              </a:rPr>
              <a:t>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55080" y="567842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Ensemble pipeline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78240" y="567842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Segoe UI"/>
              </a:rPr>
              <a:t>4 model + meta-learner uçtan uca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0040" y="6144768"/>
            <a:ext cx="11521440" cy="548640"/>
          </a:xfrm>
          <a:prstGeom prst="rect">
            <a:avLst/>
          </a:prstGeom>
          <a:solidFill>
            <a:srgbClr val="332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20040" y="6144768"/>
            <a:ext cx="54864" cy="54864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48056" y="6199632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600"/>
                </a:solidFill>
                <a:latin typeface="Segoe UI"/>
              </a:rPr>
              <a:t>⚡ JÜRİ SORUSU: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48056" y="6419088"/>
            <a:ext cx="11338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ED80"/>
                </a:solidFill>
                <a:latin typeface="Segoe UI"/>
              </a:rPr>
              <a:t>Test sırasında karşılaştığınız en ilginç hata neydi? Nasıl çözdünüz?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FF"/>
                </a:solidFill>
                <a:latin typeface="Segoe UI"/>
              </a:rPr>
              <a:t>Sonuçlar &amp; Gelecek Çalışmalar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  <a:latin typeface="Segoe UI"/>
              </a:rPr>
              <a:t>Öğrenilenler ve Sınırlar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097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Segoe UI"/>
              </a:rPr>
              <a:t>▌ Elde Edilen Başarılar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60020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9FF14"/>
                </a:solidFill>
                <a:latin typeface="Segoe UI"/>
              </a:rPr>
              <a:t>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4 yıllık BTC/ETH/SOL verisi ile 4 farklı modeli birleştiren hibrit sistem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984248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9FF14"/>
                </a:solidFill>
                <a:latin typeface="Segoe UI"/>
              </a:rPr>
              <a:t>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8424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Sıfırdan implement edilen teknik göstergeler (pandas/numpy)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368296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9FF14"/>
                </a:solidFill>
                <a:latin typeface="Segoe UI"/>
              </a:rPr>
              <a:t>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68296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Focal Loss ile sınıf dengesizliği sorununa pratik çözüm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752344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9FF14"/>
                </a:solidFill>
                <a:latin typeface="Segoe UI"/>
              </a:rPr>
              <a:t>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75234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Attention mekanizması ile LSTM/GRU'nun açıklanabilirliği artırıldı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136392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9FF14"/>
                </a:solidFill>
                <a:latin typeface="Segoe UI"/>
              </a:rPr>
              <a:t>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13639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Risk-adjusted ödül fonksiyonu ile RL ajanı aşırı risk almaktan caydırıldı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1097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Segoe UI"/>
              </a:rPr>
              <a:t>▌ Teknik Öğrenilenler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160020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6B35"/>
                </a:solidFill>
                <a:latin typeface="Segoe U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60020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Look-ahead bias: ML pipeline sırasının kritikliği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1984248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6B35"/>
                </a:solidFill>
                <a:latin typeface="Segoe U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98424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BCEWithLogitsLoss → inference'da sigmoid şart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2368296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6B35"/>
                </a:solidFill>
                <a:latin typeface="Segoe U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368296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TimeSeriesSplit: shuffle etmeden CV zorunluluğu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2752344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6B35"/>
                </a:solidFill>
                <a:latin typeface="Segoe U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75234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WAL modu: SQLite'da eş zamanlı okuma/yazma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3136392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6B35"/>
                </a:solidFill>
                <a:latin typeface="Segoe UI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13639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RL ödül tasarımı: tek metrik yetmez, ceza gerek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4343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Segoe UI"/>
              </a:rPr>
              <a:t>▌ Gelecek Çalışmalar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709160"/>
            <a:ext cx="5577840" cy="47548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709160"/>
            <a:ext cx="54864" cy="475488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80060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Transformer / Temporal Fusion Transformer mimarisi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709160"/>
            <a:ext cx="5577840" cy="47548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4709160"/>
            <a:ext cx="54864" cy="4754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480060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Gerçek zamanlı paper trading (canlı API entegrasyonu)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5276088"/>
            <a:ext cx="5577840" cy="47548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" y="5276088"/>
            <a:ext cx="54864" cy="47548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536752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Haber sentiment analizi (NLP + fiyat)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5276088"/>
            <a:ext cx="5577840" cy="47548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7920" y="5276088"/>
            <a:ext cx="54864" cy="47548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536752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Multi-asset portföy optimizasyonu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6144768"/>
            <a:ext cx="11521440" cy="548640"/>
          </a:xfrm>
          <a:prstGeom prst="rect">
            <a:avLst/>
          </a:prstGeom>
          <a:solidFill>
            <a:srgbClr val="332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0040" y="6144768"/>
            <a:ext cx="54864" cy="54864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8056" y="6199632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600"/>
                </a:solidFill>
                <a:latin typeface="Segoe UI"/>
              </a:rPr>
              <a:t>⚡ JÜRİ SORUSU: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056" y="6419088"/>
            <a:ext cx="11338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ED80"/>
                </a:solidFill>
                <a:latin typeface="Segoe UI"/>
              </a:rPr>
              <a:t>Bu projeyi production'a almak için ne gerekir? En büyük risk faktörü nedir?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88952" cy="274320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0"/>
            <a:ext cx="137160" cy="2743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D4FF"/>
                </a:solidFill>
                <a:latin typeface="Segoe UI"/>
              </a:rPr>
              <a:t>Teşekkürler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108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Segoe UI"/>
              </a:rPr>
              <a:t>Sorularınız için hazırım.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BEC5"/>
                </a:solidFill>
                <a:latin typeface="Segoe UI"/>
              </a:rPr>
              <a:t>Ahmet Yılmaz  |  Near East University  |  Bilgisayar Mühendisliği  |  2025–2026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212080"/>
            <a:ext cx="12188952" cy="1645920"/>
          </a:xfrm>
          <a:prstGeom prst="rect">
            <a:avLst/>
          </a:prstGeom>
          <a:solidFill>
            <a:srgbClr val="07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5440680"/>
            <a:ext cx="1280160" cy="4114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54864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  <a:latin typeface="Segoe UI"/>
              </a:rPr>
              <a:t>Python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5440680"/>
            <a:ext cx="1280160" cy="4114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74520" y="54864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B86FC"/>
                </a:solidFill>
                <a:latin typeface="Segoe UI"/>
              </a:rPr>
              <a:t>PyTorch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5440680"/>
            <a:ext cx="1280160" cy="4114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54864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9FF14"/>
                </a:solidFill>
                <a:latin typeface="Segoe UI"/>
              </a:rPr>
              <a:t>XGBoost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5440680"/>
            <a:ext cx="1280160" cy="4114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54864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6B35"/>
                </a:solidFill>
                <a:latin typeface="Segoe UI"/>
              </a:rPr>
              <a:t>PPO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5440680"/>
            <a:ext cx="1280160" cy="4114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54864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  <a:latin typeface="Segoe UI"/>
              </a:rPr>
              <a:t>Streamlit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0" y="5440680"/>
            <a:ext cx="1280160" cy="4114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80" y="54864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6B35"/>
                </a:solidFill>
                <a:latin typeface="Segoe UI"/>
              </a:rPr>
              <a:t>SQLite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5440680"/>
            <a:ext cx="1280160" cy="4114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20" y="54864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9FF14"/>
                </a:solidFill>
                <a:latin typeface="Segoe UI"/>
              </a:rPr>
              <a:t>Gymnasium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607040" y="5440680"/>
            <a:ext cx="1280160" cy="4114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52760" y="54864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B86FC"/>
                </a:solidFill>
                <a:latin typeface="Segoe UI"/>
              </a:rPr>
              <a:t>pandas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37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BB86FC"/>
                </a:solidFill>
                <a:latin typeface="Segoe UI"/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22860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BB86FC"/>
                </a:solidFill>
                <a:latin typeface="Segoe UI"/>
              </a:rPr>
              <a:t>LSTM &amp; GRU Sorulari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31546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0BEC5"/>
                </a:solidFill>
                <a:latin typeface="Segoe UI"/>
              </a:rPr>
              <a:t>Kapi mekanizmalari | Attention | Focal Loss | Gradyan problemi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3749039"/>
            <a:ext cx="8229600" cy="4572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841248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B86FC"/>
                </a:solidFill>
                <a:latin typeface="Segoe UI"/>
              </a:rPr>
              <a:t>LSTM &amp; GRU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Juri Sorulari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011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0BEC5"/>
                </a:solidFill>
                <a:latin typeface="Segoe UI"/>
              </a:rPr>
              <a:t>Soru 01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98480" y="164592"/>
            <a:ext cx="1280160" cy="47548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2011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egoe UI"/>
              </a:rPr>
              <a:t>KOLAY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960120"/>
            <a:ext cx="11521440" cy="2377440"/>
          </a:xfrm>
          <a:prstGeom prst="rect">
            <a:avLst/>
          </a:prstGeom>
          <a:solidFill>
            <a:srgbClr val="0E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960120"/>
            <a:ext cx="73152" cy="237744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0241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B86FC"/>
                </a:solidFill>
                <a:latin typeface="Segoe UI"/>
              </a:rPr>
              <a:t>SORU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316736"/>
            <a:ext cx="11064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RNN (Tekrarlayan Sinir Agi) nedir ve hangi problemi cozmeye calisir?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502152"/>
            <a:ext cx="11521440" cy="2670048"/>
          </a:xfrm>
          <a:prstGeom prst="rect">
            <a:avLst/>
          </a:prstGeom>
          <a:solidFill>
            <a:srgbClr val="00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502152"/>
            <a:ext cx="73152" cy="26700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5753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Segoe UI"/>
              </a:rPr>
              <a:t>BEKLENEN CEVAP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867912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FFCC"/>
                </a:solidFill>
                <a:latin typeface="Segoe UI"/>
              </a:rPr>
              <a:t>RNN, sirasal/zamansal verileri islemeye yarayan, her adimda onceki adimin 'hidden state'ini de girdi olarak kullanan bir ag yapisidir. Zaman bagimliligi iceren veri (fiyat serisi, metin) icin tasarlanmistir.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841248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B86FC"/>
                </a:solidFill>
                <a:latin typeface="Segoe UI"/>
              </a:rPr>
              <a:t>LSTM &amp; GRU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Juri Sorulari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011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0BEC5"/>
                </a:solidFill>
                <a:latin typeface="Segoe UI"/>
              </a:rPr>
              <a:t>Soru 02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98480" y="164592"/>
            <a:ext cx="1280160" cy="47548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2011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egoe UI"/>
              </a:rPr>
              <a:t>KOLAY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960120"/>
            <a:ext cx="11521440" cy="2194560"/>
          </a:xfrm>
          <a:prstGeom prst="rect">
            <a:avLst/>
          </a:prstGeom>
          <a:solidFill>
            <a:srgbClr val="0E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960120"/>
            <a:ext cx="73152" cy="219456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0241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B86FC"/>
                </a:solidFill>
                <a:latin typeface="Segoe UI"/>
              </a:rPr>
              <a:t>SORU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316736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LSTM neden gelistirildi? Klasik RNN'in temel problemi neydi?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319272"/>
            <a:ext cx="11521440" cy="2441448"/>
          </a:xfrm>
          <a:prstGeom prst="rect">
            <a:avLst/>
          </a:prstGeom>
          <a:solidFill>
            <a:srgbClr val="00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319272"/>
            <a:ext cx="73152" cy="24414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39242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Segoe UI"/>
              </a:rPr>
              <a:t>BEKLENEN CEVAP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685032"/>
            <a:ext cx="11064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FFCC"/>
                </a:solidFill>
                <a:latin typeface="Segoe UI"/>
              </a:rPr>
              <a:t>Klasik RNN, uzun serilerde 'vanishing gradient' (kaybolan gradyan) problemine ugrar: geri yayilimda (backpropagation) gradyanlar katman katman carpilarak sifira yaklasir ve model uzak gecmisi ogrenemeZ. LSTM, cell state (hucre durumu) ile bu sorunu cozer.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5943600"/>
            <a:ext cx="11521440" cy="749808"/>
          </a:xfrm>
          <a:prstGeom prst="rect">
            <a:avLst/>
          </a:prstGeom>
          <a:solidFill>
            <a:srgbClr val="22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5943600"/>
            <a:ext cx="73152" cy="74980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6071616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ED80"/>
                </a:solidFill>
                <a:latin typeface="Segoe UI"/>
              </a:rPr>
              <a:t>IPUCU  |  Vanishing gradient: gradyan &lt; 1 olan degerlerin cok kez carpilmasi -&gt; 0'a yaklasmasi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841248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B86FC"/>
                </a:solidFill>
                <a:latin typeface="Segoe UI"/>
              </a:rPr>
              <a:t>LSTM &amp; GRU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Juri Sorulari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011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0BEC5"/>
                </a:solidFill>
                <a:latin typeface="Segoe UI"/>
              </a:rPr>
              <a:t>Soru 03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98480" y="164592"/>
            <a:ext cx="1280160" cy="47548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2011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egoe UI"/>
              </a:rPr>
              <a:t>KOLAY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960120"/>
            <a:ext cx="11521440" cy="2377440"/>
          </a:xfrm>
          <a:prstGeom prst="rect">
            <a:avLst/>
          </a:prstGeom>
          <a:solidFill>
            <a:srgbClr val="0E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960120"/>
            <a:ext cx="73152" cy="237744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0241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B86FC"/>
                </a:solidFill>
                <a:latin typeface="Segoe UI"/>
              </a:rPr>
              <a:t>SORU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316736"/>
            <a:ext cx="11064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LSTM'de kac tane kapi (gate) vardir? Her birinin gorevi nedir?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502152"/>
            <a:ext cx="11521440" cy="2670048"/>
          </a:xfrm>
          <a:prstGeom prst="rect">
            <a:avLst/>
          </a:prstGeom>
          <a:solidFill>
            <a:srgbClr val="00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502152"/>
            <a:ext cx="73152" cy="26700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5753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Segoe UI"/>
              </a:rPr>
              <a:t>BEKLENEN CEVAP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867912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FFCC"/>
                </a:solidFill>
                <a:latin typeface="Segoe UI"/>
              </a:rPr>
              <a:t>3 kapi vardir:
1) Forget Gate: 'Gecmisi ne kadar unutayim?' — sigmoid -&gt; 0 (unut) ile 1 (hepsini tut) arasi
2) Input Gate: 'Yeni bilgiden ne kadarini alayim?' — sigmoid + tanh kombinasyonu
3) Output Gate: 'Cell state'den ne kadarini disari verayim?' — sigmoid + tanh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841248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B86FC"/>
                </a:solidFill>
                <a:latin typeface="Segoe UI"/>
              </a:rPr>
              <a:t>LSTM &amp; GRU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Juri Sorulari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011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0BEC5"/>
                </a:solidFill>
                <a:latin typeface="Segoe UI"/>
              </a:rPr>
              <a:t>Soru 04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98480" y="164592"/>
            <a:ext cx="1280160" cy="47548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2011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egoe UI"/>
              </a:rPr>
              <a:t>KOLAY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960120"/>
            <a:ext cx="11521440" cy="2377440"/>
          </a:xfrm>
          <a:prstGeom prst="rect">
            <a:avLst/>
          </a:prstGeom>
          <a:solidFill>
            <a:srgbClr val="0E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960120"/>
            <a:ext cx="73152" cy="237744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0241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B86FC"/>
                </a:solidFill>
                <a:latin typeface="Segoe UI"/>
              </a:rPr>
              <a:t>SORU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316736"/>
            <a:ext cx="11064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Cell state (hucre durumu) ile hidden state arasindaki fark nedir?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502152"/>
            <a:ext cx="11521440" cy="2670048"/>
          </a:xfrm>
          <a:prstGeom prst="rect">
            <a:avLst/>
          </a:prstGeom>
          <a:solidFill>
            <a:srgbClr val="00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502152"/>
            <a:ext cx="73152" cy="26700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5753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Segoe UI"/>
              </a:rPr>
              <a:t>BEKLENEN CEVAP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867912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FFCC"/>
                </a:solidFill>
                <a:latin typeface="Segoe UI"/>
              </a:rPr>
              <a:t>Cell state (c_t): Ana bilgi tasiyicisi — uzun vadeli hafiza. Kapi mekanizmalari sayesinde bilgi eklenip cikarilabilir.
Hidden state (h_t): Kisa vadeli cikti — hem bir sonraki adima giris, hem de modelin anlık 'cikti'si.
Kiyasi: Cell state = uzun hafiza, Hidden state = calisma bellegi (working memory).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841248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B86FC"/>
                </a:solidFill>
                <a:latin typeface="Segoe UI"/>
              </a:rPr>
              <a:t>LSTM &amp; GRU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Juri Sorulari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011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0BEC5"/>
                </a:solidFill>
                <a:latin typeface="Segoe UI"/>
              </a:rPr>
              <a:t>Soru 05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98480" y="164592"/>
            <a:ext cx="1280160" cy="47548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2011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egoe UI"/>
              </a:rPr>
              <a:t>ORTA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960120"/>
            <a:ext cx="11521440" cy="2377440"/>
          </a:xfrm>
          <a:prstGeom prst="rect">
            <a:avLst/>
          </a:prstGeom>
          <a:solidFill>
            <a:srgbClr val="0E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960120"/>
            <a:ext cx="73152" cy="237744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0241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B86FC"/>
                </a:solidFill>
                <a:latin typeface="Segoe UI"/>
              </a:rPr>
              <a:t>SORU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316736"/>
            <a:ext cx="11064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GRU, LSTM'den nasil farklidir? Hangi kapiyi birlestirdi?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502152"/>
            <a:ext cx="11521440" cy="2670048"/>
          </a:xfrm>
          <a:prstGeom prst="rect">
            <a:avLst/>
          </a:prstGeom>
          <a:solidFill>
            <a:srgbClr val="00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502152"/>
            <a:ext cx="73152" cy="26700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5753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Segoe UI"/>
              </a:rPr>
              <a:t>BEKLENEN CEVAP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867912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FFCC"/>
                </a:solidFill>
                <a:latin typeface="Segoe UI"/>
              </a:rPr>
              <a:t>GRU (Gated Recurrent Unit) cell state'i kaldirir ve 2 kapiya indirir:
1) Update Gate: forget + input kapilari birlesti — 'ne kadar gecmisi korum, ne kadar yeni bilgi alayim?'
2) Reset Gate: gecmisi ne kadar sifirla?
Avantaj: Daha az parametre -&gt; daha hizli egitim, benzer performans.
Bu projede ikisi de egitildi ve ensemble'da birlikte kullanildi.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841248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B86FC"/>
                </a:solidFill>
                <a:latin typeface="Segoe UI"/>
              </a:rPr>
              <a:t>LSTM &amp; GRU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Juri Sorulari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011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0BEC5"/>
                </a:solidFill>
                <a:latin typeface="Segoe UI"/>
              </a:rPr>
              <a:t>Soru 06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98480" y="164592"/>
            <a:ext cx="1280160" cy="47548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2011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egoe UI"/>
              </a:rPr>
              <a:t>ORTA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960120"/>
            <a:ext cx="11521440" cy="2194560"/>
          </a:xfrm>
          <a:prstGeom prst="rect">
            <a:avLst/>
          </a:prstGeom>
          <a:solidFill>
            <a:srgbClr val="0E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960120"/>
            <a:ext cx="73152" cy="219456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0241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B86FC"/>
                </a:solidFill>
                <a:latin typeface="Segoe UI"/>
              </a:rPr>
              <a:t>SORU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316736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Modelinizde seq_len=60 (60 adimlik pencere) kullandınız. Neden 60 sectiniz?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319272"/>
            <a:ext cx="11521440" cy="2441448"/>
          </a:xfrm>
          <a:prstGeom prst="rect">
            <a:avLst/>
          </a:prstGeom>
          <a:solidFill>
            <a:srgbClr val="00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319272"/>
            <a:ext cx="73152" cy="24414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39242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Segoe UI"/>
              </a:rPr>
              <a:t>BEKLENEN CEVAP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685032"/>
            <a:ext cx="11064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FFCC"/>
                </a:solidFill>
                <a:latin typeface="Segoe UI"/>
              </a:rPr>
              <a:t>60 gunluk pencere yaklasik 3 aylik fiyat hareketini kapsar — kripto piyasasinda orta vadeli bir trend periyodu.
Cok kisa (ornr 10): Yetersiz gecmis bilgi, gurutu ogrenir.
Cok uzun (ornr 200): Hesaplama maliyeti yukselir, erken adimlar attention ile zaten bastiriliyor.
60 literaturde yaygin kullanilan bir deger.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5943600"/>
            <a:ext cx="11521440" cy="749808"/>
          </a:xfrm>
          <a:prstGeom prst="rect">
            <a:avLst/>
          </a:prstGeom>
          <a:solidFill>
            <a:srgbClr val="22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5943600"/>
            <a:ext cx="73152" cy="74980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6071616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ED80"/>
                </a:solidFill>
                <a:latin typeface="Segoe UI"/>
              </a:rPr>
              <a:t>IPUCU  |  Asil cevap: deneysel olarak 30/60/90 denendi, 60 en dusuk validation loss verdi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841248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B86FC"/>
                </a:solidFill>
                <a:latin typeface="Segoe UI"/>
              </a:rPr>
              <a:t>LSTM &amp; GRU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Juri Sorulari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011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0BEC5"/>
                </a:solidFill>
                <a:latin typeface="Segoe UI"/>
              </a:rPr>
              <a:t>Soru 07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98480" y="164592"/>
            <a:ext cx="1280160" cy="47548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2011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egoe UI"/>
              </a:rPr>
              <a:t>ORTA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960120"/>
            <a:ext cx="11521440" cy="2194560"/>
          </a:xfrm>
          <a:prstGeom prst="rect">
            <a:avLst/>
          </a:prstGeom>
          <a:solidFill>
            <a:srgbClr val="0E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960120"/>
            <a:ext cx="73152" cy="219456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0241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B86FC"/>
                </a:solidFill>
                <a:latin typeface="Segoe UI"/>
              </a:rPr>
              <a:t>SORU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316736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BCEWithLogitsLoss kullandınız ama inference'da sigmoid eklediniz. Neden ikilik?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319272"/>
            <a:ext cx="11521440" cy="2441448"/>
          </a:xfrm>
          <a:prstGeom prst="rect">
            <a:avLst/>
          </a:prstGeom>
          <a:solidFill>
            <a:srgbClr val="00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319272"/>
            <a:ext cx="73152" cy="24414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39242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Segoe UI"/>
              </a:rPr>
              <a:t>BEKLENEN CEVAP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685032"/>
            <a:ext cx="11064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FFCC"/>
                </a:solidFill>
                <a:latin typeface="Segoe UI"/>
              </a:rPr>
              <a:t>BCEWithLogitsLoss = BCE + dahili sigmoid — sayisal kararlilik icin logit uzerinde calisir (sigmoid overflow'u onler).
Sonuc olarak MODEL RAW LOGIT cikarir (sinırsiz deger, ornr -2.5, +1.8).
Inference'da sigmoid elle uygulanmazsa: cikti 0-1 arasinda degil, threshold(0.5) yanlis calisir, ensemble'a yanlis olasilik gider.
Unutulursa: tum tahminler yanlis -&gt; butun pipeline bozulur.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5943600"/>
            <a:ext cx="11521440" cy="749808"/>
          </a:xfrm>
          <a:prstGeom prst="rect">
            <a:avLst/>
          </a:prstGeom>
          <a:solidFill>
            <a:srgbClr val="22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5943600"/>
            <a:ext cx="73152" cy="74980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6071616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ED80"/>
                </a:solidFill>
                <a:latin typeface="Segoe UI"/>
              </a:rPr>
              <a:t>IPUCU  |  Kod: torch.sigmoid(model(x)) — egitimde yok, inference'da zorunlu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841248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B86FC"/>
                </a:solidFill>
                <a:latin typeface="Segoe UI"/>
              </a:rPr>
              <a:t>LSTM &amp; GRU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Juri Sorulari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011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0BEC5"/>
                </a:solidFill>
                <a:latin typeface="Segoe UI"/>
              </a:rPr>
              <a:t>Soru 08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98480" y="164592"/>
            <a:ext cx="1280160" cy="47548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2011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egoe UI"/>
              </a:rPr>
              <a:t>ORTA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960120"/>
            <a:ext cx="11521440" cy="2377440"/>
          </a:xfrm>
          <a:prstGeom prst="rect">
            <a:avLst/>
          </a:prstGeom>
          <a:solidFill>
            <a:srgbClr val="0E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960120"/>
            <a:ext cx="73152" cy="237744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0241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B86FC"/>
                </a:solidFill>
                <a:latin typeface="Segoe UI"/>
              </a:rPr>
              <a:t>SORU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316736"/>
            <a:ext cx="11064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Attention mekanizmasi ne yapiyor? Olmasa ne olurdu?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502152"/>
            <a:ext cx="11521440" cy="2670048"/>
          </a:xfrm>
          <a:prstGeom prst="rect">
            <a:avLst/>
          </a:prstGeom>
          <a:solidFill>
            <a:srgbClr val="00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502152"/>
            <a:ext cx="73152" cy="26700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5753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Segoe UI"/>
              </a:rPr>
              <a:t>BEKLENEN CEVAP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867912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FFCC"/>
                </a:solidFill>
                <a:latin typeface="Segoe UI"/>
              </a:rPr>
              <a:t>Attention: 'Bu 60 zaman adiminin hangileri daha onemli?' sorusunu ogrenir.
Formul: attn_weights = softmax(Linear(tanh(Linear(rnn_output)))) -&gt; agirlikli toplam -&gt; context
Olmasa: modelin son hidden state'i 60 adimlık tum gecmisi temsil etmek zorunda kalir — bilgi darbogazı.
Attention ile: hacim patlamasi olan gun, sıradan gunden daha fazla agirlik alabilir.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841248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B86FC"/>
                </a:solidFill>
                <a:latin typeface="Segoe UI"/>
              </a:rPr>
              <a:t>LSTM &amp; GRU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Juri Sorulari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011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0BEC5"/>
                </a:solidFill>
                <a:latin typeface="Segoe UI"/>
              </a:rPr>
              <a:t>Soru 09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98480" y="164592"/>
            <a:ext cx="1280160" cy="47548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2011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egoe UI"/>
              </a:rPr>
              <a:t>ORTA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960120"/>
            <a:ext cx="11521440" cy="2377440"/>
          </a:xfrm>
          <a:prstGeom prst="rect">
            <a:avLst/>
          </a:prstGeom>
          <a:solidFill>
            <a:srgbClr val="0E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960120"/>
            <a:ext cx="73152" cy="237744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0241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B86FC"/>
                </a:solidFill>
                <a:latin typeface="Segoe UI"/>
              </a:rPr>
              <a:t>SORU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316736"/>
            <a:ext cx="11064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Dropout neden sadece egitimde aktif, inference'da kapali olmali?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502152"/>
            <a:ext cx="11521440" cy="2670048"/>
          </a:xfrm>
          <a:prstGeom prst="rect">
            <a:avLst/>
          </a:prstGeom>
          <a:solidFill>
            <a:srgbClr val="00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502152"/>
            <a:ext cx="73152" cy="26700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5753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Segoe UI"/>
              </a:rPr>
              <a:t>BEKLENEN CEVAP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867912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FFCC"/>
                </a:solidFill>
                <a:latin typeface="Segoe UI"/>
              </a:rPr>
              <a:t>Dropout egitimde rastgele noronlari kapatir (normalize eder, overfitting onler).
Inference'da kapatilmazsa: ayni girdi icin her calistirmada FARKLI cikti uretir — deterministik olmayan tahminler.
PyTorch'ta: model.train() -&gt; dropout aktif, model.eval() -&gt; dropout kapali.
Kodda: lstm.eval() ve with torch.no_grad() blogu bunu saglar.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841248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B86FC"/>
                </a:solidFill>
                <a:latin typeface="Segoe UI"/>
              </a:rPr>
              <a:t>LSTM &amp; GRU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Juri Sorulari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011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0BEC5"/>
                </a:solidFill>
                <a:latin typeface="Segoe UI"/>
              </a:rPr>
              <a:t>Soru 10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98480" y="164592"/>
            <a:ext cx="1280160" cy="475488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2011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egoe UI"/>
              </a:rPr>
              <a:t>ZOR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960120"/>
            <a:ext cx="11521440" cy="2194560"/>
          </a:xfrm>
          <a:prstGeom prst="rect">
            <a:avLst/>
          </a:prstGeom>
          <a:solidFill>
            <a:srgbClr val="0E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960120"/>
            <a:ext cx="73152" cy="219456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0241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B86FC"/>
                </a:solidFill>
                <a:latin typeface="Segoe UI"/>
              </a:rPr>
              <a:t>SORU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316736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Vanishing gradient problemi matematiksel olarak nasil olur? LSTM bunu nasil cozer?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319272"/>
            <a:ext cx="11521440" cy="2441448"/>
          </a:xfrm>
          <a:prstGeom prst="rect">
            <a:avLst/>
          </a:prstGeom>
          <a:solidFill>
            <a:srgbClr val="00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319272"/>
            <a:ext cx="73152" cy="24414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39242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Segoe UI"/>
              </a:rPr>
              <a:t>BEKLENEN CEVAP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685032"/>
            <a:ext cx="11064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FFCC"/>
                </a:solidFill>
                <a:latin typeface="Segoe UI"/>
              </a:rPr>
              <a:t>RNN'de geri yayilimda: gradient = dL/dh_t = dL/dh_T * (dh_T/dh_{T-1}) * ... * (dh_{t+1}/dh_t)
Her carpanda sigmoid turevi max 0.25 -&gt; 100 adim icin: 0.25^100 ~ 10^-60 -&gt; esasen sifir.
LSTM cozu: Cell state additive update kullanir (sigmoid * prev_c + sigmoid * tanh).
Toplamayla gecen gradyan: c_t = f*c_{t-1} + i*g -&gt; dc_t/dc_{t-1} = f (forget gate) — sigmoidden gecmez, dogrudan akar -&gt; gradient highway.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5943600"/>
            <a:ext cx="11521440" cy="749808"/>
          </a:xfrm>
          <a:prstGeom prst="rect">
            <a:avLst/>
          </a:prstGeom>
          <a:solidFill>
            <a:srgbClr val="22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5943600"/>
            <a:ext cx="73152" cy="74980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6071616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ED80"/>
                </a:solidFill>
                <a:latin typeface="Segoe UI"/>
              </a:rPr>
              <a:t>IPUCU  |  Anahtar kelime: 'additive/toplayan guncelleme vs multiplicative/carpan guncelleme'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841248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B86FC"/>
                </a:solidFill>
                <a:latin typeface="Segoe UI"/>
              </a:rPr>
              <a:t>LSTM &amp; GRU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Juri Sorulari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011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0BEC5"/>
                </a:solidFill>
                <a:latin typeface="Segoe UI"/>
              </a:rPr>
              <a:t>Soru 11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98480" y="164592"/>
            <a:ext cx="1280160" cy="475488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2011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egoe UI"/>
              </a:rPr>
              <a:t>ZOR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960120"/>
            <a:ext cx="11521440" cy="2194560"/>
          </a:xfrm>
          <a:prstGeom prst="rect">
            <a:avLst/>
          </a:prstGeom>
          <a:solidFill>
            <a:srgbClr val="0E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960120"/>
            <a:ext cx="73152" cy="219456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0241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B86FC"/>
                </a:solidFill>
                <a:latin typeface="Segoe UI"/>
              </a:rPr>
              <a:t>SORU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316736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Modelinizde bidirectional=False kullandınız. True yapmanin avantaji ve dezavantaji ne olurdu?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319272"/>
            <a:ext cx="11521440" cy="2441448"/>
          </a:xfrm>
          <a:prstGeom prst="rect">
            <a:avLst/>
          </a:prstGeom>
          <a:solidFill>
            <a:srgbClr val="00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319272"/>
            <a:ext cx="73152" cy="24414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39242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Segoe UI"/>
              </a:rPr>
              <a:t>BEKLENEN CEVAP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685032"/>
            <a:ext cx="11064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FFCC"/>
                </a:solidFill>
                <a:latin typeface="Segoe UI"/>
              </a:rPr>
              <a:t>Bidirectional=True: Hem ileri (t=1-&gt;60) hem geri (t=60-&gt;1) okur -&gt; her adimda tum seri bilgisi.
Avantaj: Daha zengin temsil, bazi zaman serisi problemlerinde daha iyi.
Dezavantaj CRIT: Gelecegi gormus olur! t=30'da t=60 fiyatini zaten biliyor -&gt; look-ahead bias riski.
Trading icin bu YASAK — hoca bunu sorarsa bu cevap cok onemlI.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5943600"/>
            <a:ext cx="11521440" cy="749808"/>
          </a:xfrm>
          <a:prstGeom prst="rect">
            <a:avLst/>
          </a:prstGeom>
          <a:solidFill>
            <a:srgbClr val="22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5943600"/>
            <a:ext cx="73152" cy="74980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6071616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ED80"/>
                </a:solidFill>
                <a:latin typeface="Segoe UI"/>
              </a:rPr>
              <a:t>IPUCU  |  Asil neden: Gercek zamanli trading'de gelecek veri yok, model buna uygun olmali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841248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B86FC"/>
                </a:solidFill>
                <a:latin typeface="Segoe UI"/>
              </a:rPr>
              <a:t>LSTM &amp; GRU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Juri Sorulari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011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0BEC5"/>
                </a:solidFill>
                <a:latin typeface="Segoe UI"/>
              </a:rPr>
              <a:t>Soru 12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98480" y="164592"/>
            <a:ext cx="1280160" cy="475488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2011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egoe UI"/>
              </a:rPr>
              <a:t>ZOR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960120"/>
            <a:ext cx="11521440" cy="2194560"/>
          </a:xfrm>
          <a:prstGeom prst="rect">
            <a:avLst/>
          </a:prstGeom>
          <a:solidFill>
            <a:srgbClr val="0E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960120"/>
            <a:ext cx="73152" cy="219456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0241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B86FC"/>
                </a:solidFill>
                <a:latin typeface="Segoe UI"/>
              </a:rPr>
              <a:t>SORU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316736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Focal Loss'un gamma parametresi 2.0 olarak secildi. Bu degeri nasil secerdiniz, 0.5 veya 5.0 olsaydi ne olurdu?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319272"/>
            <a:ext cx="11521440" cy="2441448"/>
          </a:xfrm>
          <a:prstGeom prst="rect">
            <a:avLst/>
          </a:prstGeom>
          <a:solidFill>
            <a:srgbClr val="00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319272"/>
            <a:ext cx="73152" cy="24414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39242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Segoe UI"/>
              </a:rPr>
              <a:t>BEKLENEN CEVAP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685032"/>
            <a:ext cx="11064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FFCC"/>
                </a:solidFill>
                <a:latin typeface="Segoe UI"/>
              </a:rPr>
              <a:t>gamma=0: Focal Loss = normal BCE, hic odaklanma etkisi yok.
gamma=2 (secilen): Kolay orneklerin agirligi ~(1-0.9)^2=0.01 ile bastiriliyor — literaturde standart deger.
gamma=5: Zor orneklere cok agir odak -&gt; cok kucuk gruba overfitting riski.
Genellikle gamma in {0.5, 1, 2, 5} arasindan validation setinde en iyi F1 veren secilir.
RetinaNet makalesi (Lin et al. 2017) gamma=2'yi onerir.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5943600"/>
            <a:ext cx="11521440" cy="749808"/>
          </a:xfrm>
          <a:prstGeom prst="rect">
            <a:avLst/>
          </a:prstGeom>
          <a:solidFill>
            <a:srgbClr val="22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5943600"/>
            <a:ext cx="73152" cy="74980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6071616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ED80"/>
                </a:solidFill>
                <a:latin typeface="Segoe UI"/>
              </a:rPr>
              <a:t>IPUCU  |  Kaynak: RetinaNet (2017) — Focal Loss ilk onerilen makale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841248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B86FC"/>
                </a:solidFill>
                <a:latin typeface="Segoe UI"/>
              </a:rPr>
              <a:t>LSTM &amp; GRU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Juri Sorulari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011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0BEC5"/>
                </a:solidFill>
                <a:latin typeface="Segoe UI"/>
              </a:rPr>
              <a:t>Soru 13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98480" y="164592"/>
            <a:ext cx="1280160" cy="475488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2011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egoe UI"/>
              </a:rPr>
              <a:t>ZOR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960120"/>
            <a:ext cx="11521440" cy="2377440"/>
          </a:xfrm>
          <a:prstGeom prst="rect">
            <a:avLst/>
          </a:prstGeom>
          <a:solidFill>
            <a:srgbClr val="0E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960120"/>
            <a:ext cx="73152" cy="237744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0241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B86FC"/>
                </a:solidFill>
                <a:latin typeface="Segoe UI"/>
              </a:rPr>
              <a:t>SORU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316736"/>
            <a:ext cx="11064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LSTM modelini egitirken hangi loss fonksiyonu kullandi ve neden?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502152"/>
            <a:ext cx="11521440" cy="2670048"/>
          </a:xfrm>
          <a:prstGeom prst="rect">
            <a:avLst/>
          </a:prstGeom>
          <a:solidFill>
            <a:srgbClr val="00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502152"/>
            <a:ext cx="73152" cy="26700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5753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Segoe UI"/>
              </a:rPr>
              <a:t>BEKLENEN CEVAP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867912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FFCC"/>
                </a:solidFill>
                <a:latin typeface="Segoe UI"/>
              </a:rPr>
              <a:t>BCEWithLogitsLoss (Binary Cross-Entropy with Logits) — ikili siniflandirma (fiyat artar mi/artmaz mi) icin.
Neden Logits versiyonu: numerik kararlilik — sigmoid'i ayri uygulayinca cok kucuk/buyuk degerler overflow yapar.
BCEWithLogitsLoss = sigmoid(logit) + BCE ama log-sum-exp trick ile hesaplanir.
MSE neden degil: Bu bir siniflandirma problemi, regresyon degil. MSE olasilik tahmini icin uygun degil.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37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00D4FF"/>
                </a:solidFill>
                <a:latin typeface="Segoe UI"/>
              </a:rPr>
              <a:t>#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22860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00D4FF"/>
                </a:solidFill>
                <a:latin typeface="Segoe UI"/>
              </a:rPr>
              <a:t>Ensemble &amp; Stacking Sorulari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31546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0BEC5"/>
                </a:solidFill>
                <a:latin typeface="Segoe UI"/>
              </a:rPr>
              <a:t>Neden 4 model? Meta-learner ne ogreniyor? Inference detaylari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3749039"/>
            <a:ext cx="82296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8412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D4FF"/>
                </a:solidFill>
                <a:latin typeface="Segoe UI"/>
              </a:rPr>
              <a:t>Ensemble &amp; Stacking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Juri Sorulari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011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0BEC5"/>
                </a:solidFill>
                <a:latin typeface="Segoe UI"/>
              </a:rPr>
              <a:t>Soru 01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98480" y="164592"/>
            <a:ext cx="1280160" cy="47548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2011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egoe UI"/>
              </a:rPr>
              <a:t>KOLAY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960120"/>
            <a:ext cx="11521440" cy="2377440"/>
          </a:xfrm>
          <a:prstGeom prst="rect">
            <a:avLst/>
          </a:prstGeom>
          <a:solidFill>
            <a:srgbClr val="0E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960120"/>
            <a:ext cx="73152" cy="2377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0241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Segoe UI"/>
              </a:rPr>
              <a:t>SORU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316736"/>
            <a:ext cx="11064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Ensemble ne demektir? Neden tek model yerine ensemble kullandiniz?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502152"/>
            <a:ext cx="11521440" cy="2670048"/>
          </a:xfrm>
          <a:prstGeom prst="rect">
            <a:avLst/>
          </a:prstGeom>
          <a:solidFill>
            <a:srgbClr val="00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502152"/>
            <a:ext cx="73152" cy="26700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5753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Segoe UI"/>
              </a:rPr>
              <a:t>BEKLENEN CEVAP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867912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FFCC"/>
                </a:solidFill>
                <a:latin typeface="Segoe UI"/>
              </a:rPr>
              <a:t>Ensemble: Birden fazla modelin tahminlerini birlestirerek tek modelden daha iyi sonuc elde etmek.
Temel fikir: Farkli modeller farkli hatalari yapar. Birlesince hatalar kismem telafi eder.
Bu projede: LSTM uzun vadeli bagimlilik, XGBoost kisa vadeli ozellik iliskileri — hic biri tek basina tam resmi gormez.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8412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D4FF"/>
                </a:solidFill>
                <a:latin typeface="Segoe UI"/>
              </a:rPr>
              <a:t>Ensemble &amp; Stacking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Juri Sorulari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011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0BEC5"/>
                </a:solidFill>
                <a:latin typeface="Segoe UI"/>
              </a:rPr>
              <a:t>Soru 02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98480" y="164592"/>
            <a:ext cx="1280160" cy="47548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2011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egoe UI"/>
              </a:rPr>
              <a:t>KOLAY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960120"/>
            <a:ext cx="11521440" cy="2377440"/>
          </a:xfrm>
          <a:prstGeom prst="rect">
            <a:avLst/>
          </a:prstGeom>
          <a:solidFill>
            <a:srgbClr val="0E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960120"/>
            <a:ext cx="73152" cy="2377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0241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Segoe UI"/>
              </a:rPr>
              <a:t>SORU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316736"/>
            <a:ext cx="11064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Stacking ile bagging ve boosting arasindaki fark nedir?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502152"/>
            <a:ext cx="11521440" cy="2670048"/>
          </a:xfrm>
          <a:prstGeom prst="rect">
            <a:avLst/>
          </a:prstGeom>
          <a:solidFill>
            <a:srgbClr val="00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502152"/>
            <a:ext cx="73152" cy="26700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5753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Segoe UI"/>
              </a:rPr>
              <a:t>BEKLENEN CEVAP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867912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FFCC"/>
                </a:solidFill>
                <a:latin typeface="Segoe UI"/>
              </a:rPr>
              <a:t>Bagging (ornr Random Forest): Ayni algoritmadan N model, farkli veri altumesi -&gt; oylama. Paralel.
Boosting (ornr XGBoost): Ayni algoritma, her model oncekinin hatasini hedefler. Sirasal.
Stacking: FARKLI algoritmalar (LSTM, GRU, RF, XGB) -&gt; tahminleri meta-learner'a girdi olarak ver -&gt; o birlestirmeyi ogrensin.
Stacking'in ayricaligi: meta-learner hangi modelin ne zaman guvenilir oldugunu ogrenebilir.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8412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D4FF"/>
                </a:solidFill>
                <a:latin typeface="Segoe UI"/>
              </a:rPr>
              <a:t>Ensemble &amp; Stacking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Juri Sorulari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011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0BEC5"/>
                </a:solidFill>
                <a:latin typeface="Segoe UI"/>
              </a:rPr>
              <a:t>Soru 03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98480" y="164592"/>
            <a:ext cx="1280160" cy="47548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2011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egoe UI"/>
              </a:rPr>
              <a:t>KOLAY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960120"/>
            <a:ext cx="11521440" cy="2377440"/>
          </a:xfrm>
          <a:prstGeom prst="rect">
            <a:avLst/>
          </a:prstGeom>
          <a:solidFill>
            <a:srgbClr val="0E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960120"/>
            <a:ext cx="73152" cy="2377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0241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Segoe UI"/>
              </a:rPr>
              <a:t>SORU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316736"/>
            <a:ext cx="11064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Meta-learner olarak ne kullandınız ve neden?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502152"/>
            <a:ext cx="11521440" cy="2670048"/>
          </a:xfrm>
          <a:prstGeom prst="rect">
            <a:avLst/>
          </a:prstGeom>
          <a:solidFill>
            <a:srgbClr val="00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502152"/>
            <a:ext cx="73152" cy="26700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5753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Segoe UI"/>
              </a:rPr>
              <a:t>BEKLENEN CEVAP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867912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FFCC"/>
                </a:solidFill>
                <a:latin typeface="Segoe UI"/>
              </a:rPr>
              <a:t>GradientBoosting Classifier (scikit-learn).
Neden: 4 olasilik degeri (cok kucuk tablolu veri) icin hafif, hizli, yorumlanabilir.
Girdi: [lstm_prob, gru_prob, rf_prob, xgb_prob] — 4 ozellik.
Meta-learner ornr 'RF her zaman yanlis oldugunda bile LSTM dogru tahmin ediyor' kalibini ogrenir.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8412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D4FF"/>
                </a:solidFill>
                <a:latin typeface="Segoe UI"/>
              </a:rPr>
              <a:t>Ensemble &amp; Stacking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Juri Sorulari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011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0BEC5"/>
                </a:solidFill>
                <a:latin typeface="Segoe UI"/>
              </a:rPr>
              <a:t>Soru 04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98480" y="164592"/>
            <a:ext cx="1280160" cy="47548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2011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egoe UI"/>
              </a:rPr>
              <a:t>ORTA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960120"/>
            <a:ext cx="11521440" cy="2194560"/>
          </a:xfrm>
          <a:prstGeom prst="rect">
            <a:avLst/>
          </a:prstGeom>
          <a:solidFill>
            <a:srgbClr val="0E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960120"/>
            <a:ext cx="73152" cy="21945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0241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Segoe UI"/>
              </a:rPr>
              <a:t>SORU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316736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Base modellerin ciktilarinin 0-1 arasinda olmasi neden kritik?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319272"/>
            <a:ext cx="11521440" cy="2441448"/>
          </a:xfrm>
          <a:prstGeom prst="rect">
            <a:avLst/>
          </a:prstGeom>
          <a:solidFill>
            <a:srgbClr val="00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319272"/>
            <a:ext cx="73152" cy="24414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39242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Segoe UI"/>
              </a:rPr>
              <a:t>BEKLENEN CEVAP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685032"/>
            <a:ext cx="11064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FFCC"/>
                </a:solidFill>
                <a:latin typeface="Segoe UI"/>
              </a:rPr>
              <a:t>Meta-learner'a girdi olarak bu 4 sayi gidiyor. Olasi problem:
LSTM: BCEWithLogitsLoss ile egitildi -&gt; cikti raw logit (sinırsiz). Sigmoid uygulanmazsa -3.5, +2.1 gibi degerler gider.
RF/XGBoost: zaten predict_proba ile 0-1 verir.
Eger LSTM/GRU sigmoid uygulanmadan giderse: meta-learner skali farkli olan 4 girdi aliyor -&gt; yaniltici -&gt; yanlis karar.
Kod: torch.sigmoid(lstm(x)) -- bu hata gercekte projede duzeltildi.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5943600"/>
            <a:ext cx="11521440" cy="749808"/>
          </a:xfrm>
          <a:prstGeom prst="rect">
            <a:avLst/>
          </a:prstGeom>
          <a:solidFill>
            <a:srgbClr val="22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5943600"/>
            <a:ext cx="73152" cy="74980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6071616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ED80"/>
                </a:solidFill>
                <a:latin typeface="Segoe UI"/>
              </a:rPr>
              <a:t>IPUCU  |  Gercek bug: baslangicta sigmoid unutulmustu, ensemble tahminleri tutarsizdi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8412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D4FF"/>
                </a:solidFill>
                <a:latin typeface="Segoe UI"/>
              </a:rPr>
              <a:t>Ensemble &amp; Stacking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Juri Sorulari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011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0BEC5"/>
                </a:solidFill>
                <a:latin typeface="Segoe UI"/>
              </a:rPr>
              <a:t>Soru 05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98480" y="164592"/>
            <a:ext cx="1280160" cy="47548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2011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egoe UI"/>
              </a:rPr>
              <a:t>ORTA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960120"/>
            <a:ext cx="11521440" cy="2377440"/>
          </a:xfrm>
          <a:prstGeom prst="rect">
            <a:avLst/>
          </a:prstGeom>
          <a:solidFill>
            <a:srgbClr val="0E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960120"/>
            <a:ext cx="73152" cy="2377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0241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Segoe UI"/>
              </a:rPr>
              <a:t>SORU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316736"/>
            <a:ext cx="11064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LSTM ve XGBoost farkli input formatlarinda calisiyor. Bunu nasil yonettiniz?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502152"/>
            <a:ext cx="11521440" cy="2670048"/>
          </a:xfrm>
          <a:prstGeom prst="rect">
            <a:avLst/>
          </a:prstGeom>
          <a:solidFill>
            <a:srgbClr val="00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502152"/>
            <a:ext cx="73152" cy="26700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5753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Segoe UI"/>
              </a:rPr>
              <a:t>BEKLENEN CEVAP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867912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FFCC"/>
                </a:solidFill>
                <a:latin typeface="Segoe UI"/>
              </a:rPr>
              <a:t>LSTM: [batch, seq=60, n_features] -- 3 boyutlu tensor, sekans bazli.
XGBoost: [n_samples, 13_features] -- 2 boyutlu matris, tek adim.
Yonetim: Pipeline ikiye ayrildi:
  X_dl = np.load('*_X_windows.npy') -- 3D pencereler
  X_ml = df[ml_features].values -- 2D tablo
Ensemble fonksiyonu her ikisini de alir, tahminleri birlestirip meta-learner'a verir.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8412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D4FF"/>
                </a:solidFill>
                <a:latin typeface="Segoe UI"/>
              </a:rPr>
              <a:t>Ensemble &amp; Stacking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Juri Sorulari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011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0BEC5"/>
                </a:solidFill>
                <a:latin typeface="Segoe UI"/>
              </a:rPr>
              <a:t>Soru 06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98480" y="164592"/>
            <a:ext cx="1280160" cy="47548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2011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egoe UI"/>
              </a:rPr>
              <a:t>ORTA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960120"/>
            <a:ext cx="11521440" cy="2194560"/>
          </a:xfrm>
          <a:prstGeom prst="rect">
            <a:avLst/>
          </a:prstGeom>
          <a:solidFill>
            <a:srgbClr val="0E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960120"/>
            <a:ext cx="73152" cy="21945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0241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Segoe UI"/>
              </a:rPr>
              <a:t>SORU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316736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Meta-learner egitilirken base modellerin tahminleri nasil uretildi? Neden bu onemli?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319272"/>
            <a:ext cx="11521440" cy="2441448"/>
          </a:xfrm>
          <a:prstGeom prst="rect">
            <a:avLst/>
          </a:prstGeom>
          <a:solidFill>
            <a:srgbClr val="00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319272"/>
            <a:ext cx="73152" cy="24414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39242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Segoe UI"/>
              </a:rPr>
              <a:t>BEKLENEN CEVAP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685032"/>
            <a:ext cx="11064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FFCC"/>
                </a:solidFill>
                <a:latin typeface="Segoe UI"/>
              </a:rPr>
              <a:t>Out-of-fold (OOF) tahmini kullanilmali -- eger base modelin egitim setindeki tahminleri meta-learner'a verilirse:
Base model egitim setini ezberlemis olabilir -&gt; meta-learner ezberlenmiş tahminleri ogrenir -&gt; data leakage.
Dogru yaklasim: TimeSeriesSplit ile her fold'da base model gormemis veriye tahmin uretir, bunlar meta-learner'a gider.
Bu projede dikkate alinmasi gereken kritik bir nokta.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5943600"/>
            <a:ext cx="11521440" cy="749808"/>
          </a:xfrm>
          <a:prstGeom prst="rect">
            <a:avLst/>
          </a:prstGeom>
          <a:solidFill>
            <a:srgbClr val="22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5943600"/>
            <a:ext cx="73152" cy="74980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6071616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ED80"/>
                </a:solidFill>
                <a:latin typeface="Segoe UI"/>
              </a:rPr>
              <a:t>IPUCU  |  Anahtar kavram: Out-of-fold (OOF) prediction -- leakage onleme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8412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D4FF"/>
                </a:solidFill>
                <a:latin typeface="Segoe UI"/>
              </a:rPr>
              <a:t>Ensemble &amp; Stacking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Juri Sorulari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011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0BEC5"/>
                </a:solidFill>
                <a:latin typeface="Segoe UI"/>
              </a:rPr>
              <a:t>Soru 07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98480" y="164592"/>
            <a:ext cx="1280160" cy="47548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2011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egoe UI"/>
              </a:rPr>
              <a:t>ORTA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960120"/>
            <a:ext cx="11521440" cy="2377440"/>
          </a:xfrm>
          <a:prstGeom prst="rect">
            <a:avLst/>
          </a:prstGeom>
          <a:solidFill>
            <a:srgbClr val="0E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960120"/>
            <a:ext cx="73152" cy="2377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0241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Segoe UI"/>
              </a:rPr>
              <a:t>SORU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316736"/>
            <a:ext cx="11064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Stacking yerine basit ortalama (averaging) kullansaydiniz ne degiserdi?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502152"/>
            <a:ext cx="11521440" cy="2670048"/>
          </a:xfrm>
          <a:prstGeom prst="rect">
            <a:avLst/>
          </a:prstGeom>
          <a:solidFill>
            <a:srgbClr val="00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502152"/>
            <a:ext cx="73152" cy="26700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5753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Segoe UI"/>
              </a:rPr>
              <a:t>BEKLENEN CEVAP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867912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FFCC"/>
                </a:solidFill>
                <a:latin typeface="Segoe UI"/>
              </a:rPr>
              <a:t>Basit ortalama: (lstm + gru + rf + xgb) / 4 -- her modele esit agirlik.
Stacking avantaji: Meta-learner modellerin guvenilirligi dinamik olarak ogrenir.
Ornr: BTC bull piyasasinda XGBoost daha dogru ise meta-learner ona daha fazla agirlik verir.
Basit ortalama: sabit agirlik, bu ortami ogrenemez.
Dezavantaj: Stacking daha kompleks, overfitting riski var.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8412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D4FF"/>
                </a:solidFill>
                <a:latin typeface="Segoe UI"/>
              </a:rPr>
              <a:t>Ensemble &amp; Stacking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Juri Sorulari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011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0BEC5"/>
                </a:solidFill>
                <a:latin typeface="Segoe UI"/>
              </a:rPr>
              <a:t>Soru 08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98480" y="164592"/>
            <a:ext cx="1280160" cy="475488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2011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egoe UI"/>
              </a:rPr>
              <a:t>ZOR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960120"/>
            <a:ext cx="11521440" cy="2194560"/>
          </a:xfrm>
          <a:prstGeom prst="rect">
            <a:avLst/>
          </a:prstGeom>
          <a:solidFill>
            <a:srgbClr val="0E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960120"/>
            <a:ext cx="73152" cy="21945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0241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Segoe UI"/>
              </a:rPr>
              <a:t>SORU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316736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Ensemble modelinizde 4 base model var. 5. olarak ne eklerdiniz ve neden?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319272"/>
            <a:ext cx="11521440" cy="2441448"/>
          </a:xfrm>
          <a:prstGeom prst="rect">
            <a:avLst/>
          </a:prstGeom>
          <a:solidFill>
            <a:srgbClr val="00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319272"/>
            <a:ext cx="73152" cy="24414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39242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Segoe UI"/>
              </a:rPr>
              <a:t>BEKLENEN CEVAP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685032"/>
            <a:ext cx="11064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FFCC"/>
                </a:solidFill>
                <a:latin typeface="Segoe UI"/>
              </a:rPr>
              <a:t>Guzel secenek: Transformer (Temporal Fusion Transformer veya vanilla Transformer).
Neden: LSTM/GRU'dan farkli: self-attention tum adimlar arasi dogrudan iliski kurar, O(n^2) complexity ama kripto icin seq_len kucuk.
Diger secenek: LightGBM -- XGBoost'un daha hizli versiyonu, katilim artirmaz ama alternatif.
Diger secenek: SVM -- dogrusal olmayan sinir, RF/XGB'den farkli karar siniri.
Prensip: Ensemble'a katilan modelin diger modellerle korelasyonu dusuk olmali -- farkli hata yapan modeller istenir.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5943600"/>
            <a:ext cx="11521440" cy="749808"/>
          </a:xfrm>
          <a:prstGeom prst="rect">
            <a:avLst/>
          </a:prstGeom>
          <a:solidFill>
            <a:srgbClr val="22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5943600"/>
            <a:ext cx="73152" cy="74980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6071616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ED80"/>
                </a:solidFill>
                <a:latin typeface="Segoe UI"/>
              </a:rPr>
              <a:t>IPUCU  |  Ensemble altın kurali: Dusuk korelasyon, yuksek bireysel basari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8412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D4FF"/>
                </a:solidFill>
                <a:latin typeface="Segoe UI"/>
              </a:rPr>
              <a:t>Ensemble &amp; Stacking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Juri Sorulari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011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0BEC5"/>
                </a:solidFill>
                <a:latin typeface="Segoe UI"/>
              </a:rPr>
              <a:t>Soru 09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98480" y="164592"/>
            <a:ext cx="1280160" cy="475488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2011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egoe UI"/>
              </a:rPr>
              <a:t>ZOR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960120"/>
            <a:ext cx="11521440" cy="2194560"/>
          </a:xfrm>
          <a:prstGeom prst="rect">
            <a:avLst/>
          </a:prstGeom>
          <a:solidFill>
            <a:srgbClr val="0E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960120"/>
            <a:ext cx="73152" cy="21945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0241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Segoe UI"/>
              </a:rPr>
              <a:t>SORU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316736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LSTM ve GRU her zaman birbirine cok yakin tahmin uretse, ensemble'da iki ayri model tutmanin mantigi ne kalir?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319272"/>
            <a:ext cx="11521440" cy="2441448"/>
          </a:xfrm>
          <a:prstGeom prst="rect">
            <a:avLst/>
          </a:prstGeom>
          <a:solidFill>
            <a:srgbClr val="00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319272"/>
            <a:ext cx="73152" cy="24414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39242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Segoe UI"/>
              </a:rPr>
              <a:t>BEKLENEN CEVAP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685032"/>
            <a:ext cx="11064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FFCC"/>
                </a:solidFill>
                <a:latin typeface="Segoe UI"/>
              </a:rPr>
              <a:t>Eger LSTM ve GRU tahminleri r &gt; 0.95 korelasyonluysa: cift bilgi katmiyor, fazladan hesaplama yapiliyor.
Kontrol: korelasyon matrisi hesapla: pd.DataFrame({lstm:..., gru:...}).corr()
Cozum secenekleri:
a) Sadece birini tut -- daha hizli inference
b) Farkli hyperparameter ile egit: LSTM hidden=64/gru hidden=128, farkli seq_len -- cesitlilik artir
c) Diger bir model ekle (Transformer) -- gercek cesitlilik sagla
Bu projede: ikisi farkli mimaride oldugundan bir miktar cesitlilik var.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5943600"/>
            <a:ext cx="11521440" cy="749808"/>
          </a:xfrm>
          <a:prstGeom prst="rect">
            <a:avLst/>
          </a:prstGeom>
          <a:solidFill>
            <a:srgbClr val="22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5943600"/>
            <a:ext cx="73152" cy="74980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6071616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ED80"/>
                </a:solidFill>
                <a:latin typeface="Segoe UI"/>
              </a:rPr>
              <a:t>IPUCU  |  Korelasyon kontrolu production'da zorunlu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8412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D4FF"/>
                </a:solidFill>
                <a:latin typeface="Segoe UI"/>
              </a:rPr>
              <a:t>Ensemble &amp; Stacking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Juri Sorulari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011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0BEC5"/>
                </a:solidFill>
                <a:latin typeface="Segoe UI"/>
              </a:rPr>
              <a:t>Soru 10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98480" y="164592"/>
            <a:ext cx="1280160" cy="475488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2011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egoe UI"/>
              </a:rPr>
              <a:t>ZOR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960120"/>
            <a:ext cx="11521440" cy="2377440"/>
          </a:xfrm>
          <a:prstGeom prst="rect">
            <a:avLst/>
          </a:prstGeom>
          <a:solidFill>
            <a:srgbClr val="0E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960120"/>
            <a:ext cx="73152" cy="2377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0241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Segoe UI"/>
              </a:rPr>
              <a:t>SORU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316736"/>
            <a:ext cx="11064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Meta-learner'in 4 base model tahminine overfitting yapmasi nasil onlenir?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502152"/>
            <a:ext cx="11521440" cy="2670048"/>
          </a:xfrm>
          <a:prstGeom prst="rect">
            <a:avLst/>
          </a:prstGeom>
          <a:solidFill>
            <a:srgbClr val="00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502152"/>
            <a:ext cx="73152" cy="26700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5753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Segoe UI"/>
              </a:rPr>
              <a:t>BEKLENEN CEVAP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867912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FFCC"/>
                </a:solidFill>
                <a:latin typeface="Segoe UI"/>
              </a:rPr>
              <a:t>Meta-learner girdi: sadece 4 ozellik -&gt; boyut buyuk degil, overfitting riski dusuk.
Yine de onlemler:
1) GradientBoosting n_estimators ve max_depth sinirla (max_depth=3, n_estimators=100)
2) Cross-validation ile meta-learner egit (TimeSeriesSplit)
3) OOF tahminleri kullan (yukarida aciklandi)
4) Regularizasyon: learning_rate kucuk sec (0.05-0.1)
Pratik: 4 girisli, 1 cikisli basit model -&gt; overfitting icin yeterli karmasiklik yok.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8412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D4FF"/>
                </a:solidFill>
                <a:latin typeface="Segoe UI"/>
              </a:rPr>
              <a:t>Ensemble &amp; Stacking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Juri Sorulari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011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0BEC5"/>
                </a:solidFill>
                <a:latin typeface="Segoe UI"/>
              </a:rPr>
              <a:t>Soru 11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98480" y="164592"/>
            <a:ext cx="1280160" cy="475488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2011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egoe UI"/>
              </a:rPr>
              <a:t>ZOR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960120"/>
            <a:ext cx="11521440" cy="2194560"/>
          </a:xfrm>
          <a:prstGeom prst="rect">
            <a:avLst/>
          </a:prstGeom>
          <a:solidFill>
            <a:srgbClr val="0E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960120"/>
            <a:ext cx="73152" cy="21945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0241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Segoe UI"/>
              </a:rPr>
              <a:t>SORU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316736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Ensemble'da bir base model cok kotu performans gosterse (ornr RF accuracy %48) onu kaldirmali miydiniz?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319272"/>
            <a:ext cx="11521440" cy="2441448"/>
          </a:xfrm>
          <a:prstGeom prst="rect">
            <a:avLst/>
          </a:prstGeom>
          <a:solidFill>
            <a:srgbClr val="00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319272"/>
            <a:ext cx="73152" cy="24414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39242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Segoe UI"/>
              </a:rPr>
              <a:t>BEKLENEN CEVAP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685032"/>
            <a:ext cx="11064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FFCC"/>
                </a:solidFill>
                <a:latin typeface="Segoe UI"/>
              </a:rPr>
              <a:t>Sadece accuracy'e bakarak karar vermek yanlis.
Dogru degerlendirme:
a) Diger modellerle korelasyon: RF yanlis oldugunda diger modeller dogru mu? -&gt; Dusuk korelasyon = katkisi var
b) Meta-learner bu modele ne agirlik veriyor? -&gt; Dusuk agirlik veriyorsa zaten etki az
c) Cikartildiginda ensemble performansi artıyor mu? -&gt; Ablation study
Asil kural: Bireysel kotu performans, ensemble'a katkisiz oldugunu gostermez -- farkli hata yapiyorsa deger tasir.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5943600"/>
            <a:ext cx="11521440" cy="749808"/>
          </a:xfrm>
          <a:prstGeom prst="rect">
            <a:avLst/>
          </a:prstGeom>
          <a:solidFill>
            <a:srgbClr val="22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5943600"/>
            <a:ext cx="73152" cy="74980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6071616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ED80"/>
                </a:solidFill>
                <a:latin typeface="Segoe UI"/>
              </a:rPr>
              <a:t>IPUCU  |  Ablation study: bir bilesenin sistemden kaldirilmasi etkisini olcmek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8412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D4FF"/>
                </a:solidFill>
                <a:latin typeface="Segoe UI"/>
              </a:rPr>
              <a:t>Ensemble &amp; Stacking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Juri Sorulari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011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0BEC5"/>
                </a:solidFill>
                <a:latin typeface="Segoe UI"/>
              </a:rPr>
              <a:t>Soru 12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98480" y="164592"/>
            <a:ext cx="1280160" cy="475488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2011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egoe UI"/>
              </a:rPr>
              <a:t>ZOR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960120"/>
            <a:ext cx="11521440" cy="2377440"/>
          </a:xfrm>
          <a:prstGeom prst="rect">
            <a:avLst/>
          </a:prstGeom>
          <a:solidFill>
            <a:srgbClr val="0E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960120"/>
            <a:ext cx="73152" cy="2377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0241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Segoe UI"/>
              </a:rPr>
              <a:t>SORU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316736"/>
            <a:ext cx="11064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Inference sirasinda 4 modeli sirayla calistirmak vs paralel calistirmak nasil olur?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502152"/>
            <a:ext cx="11521440" cy="2670048"/>
          </a:xfrm>
          <a:prstGeom prst="rect">
            <a:avLst/>
          </a:prstGeom>
          <a:solidFill>
            <a:srgbClr val="00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502152"/>
            <a:ext cx="73152" cy="26700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5753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Segoe UI"/>
              </a:rPr>
              <a:t>BEKLENEN CEVAP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867912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FFCC"/>
                </a:solidFill>
                <a:latin typeface="Segoe UI"/>
              </a:rPr>
              <a:t>Mevcut kod: LSTM -&gt; GRU -&gt; RF -&gt; XGB sirayla.
Paralellesme: torch.multiprocessing veya concurrent.futures.ThreadPoolExecutor ile LSTM ve GRU ayni anda calisabilir.
Pratikte: GPU inference bottleneck genellikle LSTM/GRU -&gt; bunlari paralel yapmak faydali.
RF ve XGB CPU'da zaten cok hizli (~ms).
Production'da latency onemli ise: LSTM+GRU async, sonra RF+XGB -&gt; meta-learner pipeline.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37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FF6B35"/>
                </a:solidFill>
                <a:latin typeface="Segoe UI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22860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6B35"/>
                </a:solidFill>
                <a:latin typeface="Segoe UI"/>
              </a:rPr>
              <a:t>PPO &amp; Pekistirmeli Ogrenme Sorulari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31546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0BEC5"/>
                </a:solidFill>
                <a:latin typeface="Segoe UI"/>
              </a:rPr>
              <a:t>Ortam tasarimi | Odul fonksiyonu | PPO vs alternatifler | RL riskleri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3749039"/>
            <a:ext cx="822960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8412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6B35"/>
                </a:solidFill>
                <a:latin typeface="Segoe UI"/>
              </a:rPr>
              <a:t>PPO &amp; Pekistirmeli Ogrenme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Juri Sorulari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011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0BEC5"/>
                </a:solidFill>
                <a:latin typeface="Segoe UI"/>
              </a:rPr>
              <a:t>Soru 01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98480" y="164592"/>
            <a:ext cx="1280160" cy="47548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2011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egoe UI"/>
              </a:rPr>
              <a:t>KOLAY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960120"/>
            <a:ext cx="11521440" cy="2377440"/>
          </a:xfrm>
          <a:prstGeom prst="rect">
            <a:avLst/>
          </a:prstGeom>
          <a:solidFill>
            <a:srgbClr val="0E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960120"/>
            <a:ext cx="73152" cy="2377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0241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Segoe UI"/>
              </a:rPr>
              <a:t>SORU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316736"/>
            <a:ext cx="11064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Pekistirmeli ogrenme nedir? Supervised learning'den temel farki ne?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502152"/>
            <a:ext cx="11521440" cy="2670048"/>
          </a:xfrm>
          <a:prstGeom prst="rect">
            <a:avLst/>
          </a:prstGeom>
          <a:solidFill>
            <a:srgbClr val="00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502152"/>
            <a:ext cx="73152" cy="26700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5753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Segoe UI"/>
              </a:rPr>
              <a:t>BEKLENEN CEVAP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867912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FFCC"/>
                </a:solidFill>
                <a:latin typeface="Segoe UI"/>
              </a:rPr>
              <a:t>PO: Bir ajan, bir ortamla etkilesip (aksiyon alip gozlem ve odul alarak) kendi basina ogrenir.
Supervised learning farki: Dogrulabilen etiket (label) yok. Ajan deneme-yanilma ile ogrenip kumule odulu maximize etmeye calisir.
Trading icin neden uygun: 'Dogru karar' onceden belli degil -- piyasa non-stationary. Ajan gecmisten ogrenerek politika gelistirir.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8412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6B35"/>
                </a:solidFill>
                <a:latin typeface="Segoe UI"/>
              </a:rPr>
              <a:t>PPO &amp; Pekistirmeli Ogrenme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Juri Sorulari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011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0BEC5"/>
                </a:solidFill>
                <a:latin typeface="Segoe UI"/>
              </a:rPr>
              <a:t>Soru 02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98480" y="164592"/>
            <a:ext cx="1280160" cy="47548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2011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egoe UI"/>
              </a:rPr>
              <a:t>KOLAY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960120"/>
            <a:ext cx="11521440" cy="2377440"/>
          </a:xfrm>
          <a:prstGeom prst="rect">
            <a:avLst/>
          </a:prstGeom>
          <a:solidFill>
            <a:srgbClr val="0E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960120"/>
            <a:ext cx="73152" cy="2377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0241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Segoe UI"/>
              </a:rPr>
              <a:t>SORU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316736"/>
            <a:ext cx="11064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Ortaminizdaki aksiyon uzayini aciklayin. Neden Discrete(3) sectiniz?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502152"/>
            <a:ext cx="11521440" cy="2670048"/>
          </a:xfrm>
          <a:prstGeom prst="rect">
            <a:avLst/>
          </a:prstGeom>
          <a:solidFill>
            <a:srgbClr val="00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502152"/>
            <a:ext cx="73152" cy="26700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5753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Segoe UI"/>
              </a:rPr>
              <a:t>BEKLENEN CEVAP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867912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FFCC"/>
                </a:solidFill>
                <a:latin typeface="Segoe UI"/>
              </a:rPr>
              <a:t>Discrete(3): 3 ayrık aksiyon — 0=Sat (veya Nakit kal), 1=Bekle/Tut, 2=Al (Varlik al).
Neden Discrete: Trading dogal olarak ayrık kararlar iceriyor — ya al, ya sat, ya bekle.
Alternatif: Continuous aksiyon (pozisyon buyuklugu 0.0-1.0) -- daha gercekci ama ogrenme cok daha zor.
Bu projede basitlik icin Discrete tercih edildi.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8412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6B35"/>
                </a:solidFill>
                <a:latin typeface="Segoe UI"/>
              </a:rPr>
              <a:t>PPO &amp; Pekistirmeli Ogrenme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Juri Sorulari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011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0BEC5"/>
                </a:solidFill>
                <a:latin typeface="Segoe UI"/>
              </a:rPr>
              <a:t>Soru 03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98480" y="164592"/>
            <a:ext cx="1280160" cy="47548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2011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egoe UI"/>
              </a:rPr>
              <a:t>KOLAY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960120"/>
            <a:ext cx="11521440" cy="2377440"/>
          </a:xfrm>
          <a:prstGeom prst="rect">
            <a:avLst/>
          </a:prstGeom>
          <a:solidFill>
            <a:srgbClr val="0E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960120"/>
            <a:ext cx="73152" cy="2377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0241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Segoe UI"/>
              </a:rPr>
              <a:t>SORU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316736"/>
            <a:ext cx="11064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Gozlem uzayindaki 10 ozelligin her birini aciklayin.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502152"/>
            <a:ext cx="11521440" cy="2670048"/>
          </a:xfrm>
          <a:prstGeom prst="rect">
            <a:avLst/>
          </a:prstGeom>
          <a:solidFill>
            <a:srgbClr val="00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502152"/>
            <a:ext cx="73152" cy="26700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5753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Segoe UI"/>
              </a:rPr>
              <a:t>BEKLENEN CEVAP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867912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FFCC"/>
                </a:solidFill>
                <a:latin typeface="Segoe UI"/>
              </a:rPr>
              <a:t>1. bakiye / initial_balance -- normalize edilmis nakit
2. net_worth / initial_balance -- portfoy degeri
3. meta_sinyal_prob -- ensemble modelinden gelen olasilik
4. normalize_fiyat -- min-max ile [0,1] araligina cekilmis kapanıs
5. RSI -- asiri alim/satim gostergesi
6. MACD_signal -- momentum
7. 5g_fiyat_degisimi -- kisa vadeli momentum
8. 20g_volatilite -- risk gostergesi
9. hacim_orasi -- ortalama hacime gore guncel hacim
10. pozisyon_orani -- ne kadar varlik tutuldugunun orani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8412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6B35"/>
                </a:solidFill>
                <a:latin typeface="Segoe UI"/>
              </a:rPr>
              <a:t>PPO &amp; Pekistirmeli Ogrenme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Juri Sorulari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011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0BEC5"/>
                </a:solidFill>
                <a:latin typeface="Segoe UI"/>
              </a:rPr>
              <a:t>Soru 04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98480" y="164592"/>
            <a:ext cx="1280160" cy="47548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2011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egoe UI"/>
              </a:rPr>
              <a:t>ORTA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960120"/>
            <a:ext cx="11521440" cy="2194560"/>
          </a:xfrm>
          <a:prstGeom prst="rect">
            <a:avLst/>
          </a:prstGeom>
          <a:solidFill>
            <a:srgbClr val="0E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960120"/>
            <a:ext cx="73152" cy="21945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0241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Segoe UI"/>
              </a:rPr>
              <a:t>SORU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316736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PPO nedir? DQN veya A3C yerine neden PPO sectiniz?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319272"/>
            <a:ext cx="11521440" cy="2441448"/>
          </a:xfrm>
          <a:prstGeom prst="rect">
            <a:avLst/>
          </a:prstGeom>
          <a:solidFill>
            <a:srgbClr val="00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319272"/>
            <a:ext cx="73152" cy="24414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39242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Segoe UI"/>
              </a:rPr>
              <a:t>BEKLENEN CEVAP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685032"/>
            <a:ext cx="11064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FFCC"/>
                </a:solidFill>
                <a:latin typeface="Segoe UI"/>
              </a:rPr>
              <a:t>PPO (Proximal Policy Optimization): Policy gradient bazli, on-policy, model-free.
Temel fikri: Her guncelleme adiminda politikayi cok buyuk degistirme -- 'proximal' = yakin kal.
DQN neden degil: Q-value tablosu, ayrık aksiyonlarda calisir ama sample inefficiency yuksek, replay buffer karmasikligi var.
A3C neden degil: Paralel worker gerektirir, kurulum zor.
PPO: Stable-Baselines3 ile hazir implementasyon, dengeli performans, default olarak iyicalisir.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5943600"/>
            <a:ext cx="11521440" cy="749808"/>
          </a:xfrm>
          <a:prstGeom prst="rect">
            <a:avLst/>
          </a:prstGeom>
          <a:solidFill>
            <a:srgbClr val="22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5943600"/>
            <a:ext cx="73152" cy="74980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6071616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ED80"/>
                </a:solidFill>
                <a:latin typeface="Segoe UI"/>
              </a:rPr>
              <a:t>IPUCU  |  PPO makalesi: Schulman et al. (2017)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8412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6B35"/>
                </a:solidFill>
                <a:latin typeface="Segoe UI"/>
              </a:rPr>
              <a:t>PPO &amp; Pekistirmeli Ogrenme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Juri Sorulari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011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0BEC5"/>
                </a:solidFill>
                <a:latin typeface="Segoe UI"/>
              </a:rPr>
              <a:t>Soru 05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98480" y="164592"/>
            <a:ext cx="1280160" cy="47548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2011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egoe UI"/>
              </a:rPr>
              <a:t>ORTA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960120"/>
            <a:ext cx="11521440" cy="2194560"/>
          </a:xfrm>
          <a:prstGeom prst="rect">
            <a:avLst/>
          </a:prstGeom>
          <a:solidFill>
            <a:srgbClr val="0E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960120"/>
            <a:ext cx="73152" cy="21945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0241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Segoe UI"/>
              </a:rPr>
              <a:t>SORU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316736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PPO'nun 'Clipped Objective' (kirlpilmis hedef) ne yapiyor?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319272"/>
            <a:ext cx="11521440" cy="2441448"/>
          </a:xfrm>
          <a:prstGeom prst="rect">
            <a:avLst/>
          </a:prstGeom>
          <a:solidFill>
            <a:srgbClr val="00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319272"/>
            <a:ext cx="73152" cy="24414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39242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Segoe UI"/>
              </a:rPr>
              <a:t>BEKLENEN CEVAP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685032"/>
            <a:ext cx="11064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FFCC"/>
                </a:solidFill>
                <a:latin typeface="Segoe UI"/>
              </a:rPr>
              <a:t>PPO hedef: L_CLIP = E[min(r_t * A_t, clip(r_t, 1-eps, 1+eps) * A_t)]
r_t = yeni_politika(a|s) / eski_politika(a|s) -- olasilik orani
A_t = avantaj tahmini
clip(..., 1-eps, 1+eps): Ratio 1+eps'tan buyuklese veya 1-eps'tan kucuklese kirp.
Sonuc: Tek adimda politika cok degisemez -&gt; egitim KARARLI. Buyuk bir guncelleme ile politikanin mahvolmasi onlenir.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5943600"/>
            <a:ext cx="11521440" cy="749808"/>
          </a:xfrm>
          <a:prstGeom prst="rect">
            <a:avLst/>
          </a:prstGeom>
          <a:solidFill>
            <a:srgbClr val="22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5943600"/>
            <a:ext cx="73152" cy="74980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6071616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ED80"/>
                </a:solidFill>
                <a:latin typeface="Segoe UI"/>
              </a:rPr>
              <a:t>IPUCU  |  eps=0.2 (default) -- %20 degisime izin verir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8412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6B35"/>
                </a:solidFill>
                <a:latin typeface="Segoe UI"/>
              </a:rPr>
              <a:t>PPO &amp; Pekistirmeli Ogrenme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Juri Sorulari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011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0BEC5"/>
                </a:solidFill>
                <a:latin typeface="Segoe UI"/>
              </a:rPr>
              <a:t>Soru 06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98480" y="164592"/>
            <a:ext cx="1280160" cy="47548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2011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egoe UI"/>
              </a:rPr>
              <a:t>ORTA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960120"/>
            <a:ext cx="11521440" cy="2377440"/>
          </a:xfrm>
          <a:prstGeom prst="rect">
            <a:avLst/>
          </a:prstGeom>
          <a:solidFill>
            <a:srgbClr val="0E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960120"/>
            <a:ext cx="73152" cy="2377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0241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Segoe UI"/>
              </a:rPr>
              <a:t>SORU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316736"/>
            <a:ext cx="11064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Odul fonksiyonunuzu aciklayin. Neden 3 bilesenli tasarladiniz?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502152"/>
            <a:ext cx="11521440" cy="2670048"/>
          </a:xfrm>
          <a:prstGeom prst="rect">
            <a:avLst/>
          </a:prstGeom>
          <a:solidFill>
            <a:srgbClr val="00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502152"/>
            <a:ext cx="73152" cy="26700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5753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Segoe UI"/>
              </a:rPr>
              <a:t>BEKLENEN CEVAP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867912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FFCC"/>
                </a:solidFill>
                <a:latin typeface="Segoe UI"/>
              </a:rPr>
              <a:t>reward = delta - 0.5*drawdown_penalty - trade_penalty
1) delta = (net_worth - prev_worth) / initial -- temel kar/zarar odulu
2) drawdown_penalty = (max_worth - net_worth) / max_worth -- buyuk kayiptan cezalandir. Sadece kar odullendirilseydi ajan asiri risk alir.
3) trade_penalty = 0.001 if action != HOLD -- cok sik al/sat -&gt; komisyon kaybi onlenir.
Tek metrikle sorun: ajan 'tum parasini koy, yuksek volatiliteyle oyna' stratejisini ogrenebilirdi.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8412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6B35"/>
                </a:solidFill>
                <a:latin typeface="Segoe UI"/>
              </a:rPr>
              <a:t>PPO &amp; Pekistirmeli Ogrenme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Juri Sorulari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011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0BEC5"/>
                </a:solidFill>
                <a:latin typeface="Segoe UI"/>
              </a:rPr>
              <a:t>Soru 07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98480" y="164592"/>
            <a:ext cx="1280160" cy="47548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2011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egoe UI"/>
              </a:rPr>
              <a:t>ORTA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960120"/>
            <a:ext cx="11521440" cy="2194560"/>
          </a:xfrm>
          <a:prstGeom prst="rect">
            <a:avLst/>
          </a:prstGeom>
          <a:solidFill>
            <a:srgbClr val="0E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960120"/>
            <a:ext cx="73152" cy="21945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0241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Segoe UI"/>
              </a:rPr>
              <a:t>SORU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316736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Ajan hic islem yapmadan (hep HOLD) ne kadar getiri saglayabilir? Bu bir sorun mu?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319272"/>
            <a:ext cx="11521440" cy="2441448"/>
          </a:xfrm>
          <a:prstGeom prst="rect">
            <a:avLst/>
          </a:prstGeom>
          <a:solidFill>
            <a:srgbClr val="00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319272"/>
            <a:ext cx="73152" cy="24414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39242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Segoe UI"/>
              </a:rPr>
              <a:t>BEKLENEN CEVAP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685032"/>
            <a:ext cx="11064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FFCC"/>
                </a:solidFill>
                <a:latin typeface="Segoe UI"/>
              </a:rPr>
              <a:t>Eger fiyat egitim periyodunda genel olarak yukseliyorsa: ajan hep HOLD yaparak 'ucretssiz' getiri alabilir.
Bu 'do-nothing baseline'dir -- ciddi bir sorun.
Kontrol: Buy-and-hold strateji ile karsilastir. Ajan bunu geciyor mu?
Cozum: Odul fonksiyonunda benchmark'a gore relative return kullan.
reward = (ajan_return - buy_hold_return) -- alpha yakalama hedefi.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5943600"/>
            <a:ext cx="11521440" cy="749808"/>
          </a:xfrm>
          <a:prstGeom prst="rect">
            <a:avLst/>
          </a:prstGeom>
          <a:solidFill>
            <a:srgbClr val="22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5943600"/>
            <a:ext cx="73152" cy="74980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6071616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ED80"/>
                </a:solidFill>
                <a:latin typeface="Segoe UI"/>
              </a:rPr>
              <a:t>IPUCU  |  Bu soruyu sor ve 'evet dusundum, buy-and-hold ile kiyasladim' diyebilmek guvenilirlik katar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8412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6B35"/>
                </a:solidFill>
                <a:latin typeface="Segoe UI"/>
              </a:rPr>
              <a:t>PPO &amp; Pekistirmeli Ogrenme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Juri Sorulari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011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0BEC5"/>
                </a:solidFill>
                <a:latin typeface="Segoe UI"/>
              </a:rPr>
              <a:t>Soru 08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98480" y="164592"/>
            <a:ext cx="1280160" cy="475488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2011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egoe UI"/>
              </a:rPr>
              <a:t>ZOR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960120"/>
            <a:ext cx="11521440" cy="2194560"/>
          </a:xfrm>
          <a:prstGeom prst="rect">
            <a:avLst/>
          </a:prstGeom>
          <a:solidFill>
            <a:srgbClr val="0E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960120"/>
            <a:ext cx="73152" cy="21945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0241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Segoe UI"/>
              </a:rPr>
              <a:t>SORU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316736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SOL'da %4000 getiri gordinuz. Bu sonuc ne anlama geliyor, gercekci mi?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319272"/>
            <a:ext cx="11521440" cy="2441448"/>
          </a:xfrm>
          <a:prstGeom prst="rect">
            <a:avLst/>
          </a:prstGeom>
          <a:solidFill>
            <a:srgbClr val="00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319272"/>
            <a:ext cx="73152" cy="24414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39242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Segoe UI"/>
              </a:rPr>
              <a:t>BEKLENEN CEVAP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685032"/>
            <a:ext cx="11064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FFCC"/>
                </a:solidFill>
                <a:latin typeface="Segoe UI"/>
              </a:rPr>
              <a:t>HAYIR, gercekci degil. Nedenleri:
1) Backtest optimism bias: Model gecmis veriye overfitting yapmis olabilir.
2) Survorship bias: SOL 2020-2024 araliginda olaganustü yukseldi -- bu periyotta hemen hemen her al-tut stratejisi yuksek getiri verir.
3) Look-ahead contamination riski: Veri onisleme hatasi olabilir.
4) Slippage ve likidite: Gercek piyasada bu buyuklukte emirler fiyati etkiler.
Dogru yorum: 'Model bu periyoda overfitting yapip yapmadigini anlamak icin out-of-sample test, walk-forward analiz gerekir.'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5943600"/>
            <a:ext cx="11521440" cy="749808"/>
          </a:xfrm>
          <a:prstGeom prst="rect">
            <a:avLst/>
          </a:prstGeom>
          <a:solidFill>
            <a:srgbClr val="22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5943600"/>
            <a:ext cx="73152" cy="74980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6071616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ED80"/>
                </a:solidFill>
                <a:latin typeface="Segoe UI"/>
              </a:rPr>
              <a:t>IPUCU  |  Bu soruya 'evet gercek' dersen hoca suphesi artar -- 'hayir, iste nedenler' dersen daha ikna edici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8412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6B35"/>
                </a:solidFill>
                <a:latin typeface="Segoe UI"/>
              </a:rPr>
              <a:t>PPO &amp; Pekistirmeli Ogrenme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Juri Sorulari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011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0BEC5"/>
                </a:solidFill>
                <a:latin typeface="Segoe UI"/>
              </a:rPr>
              <a:t>Soru 09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98480" y="164592"/>
            <a:ext cx="1280160" cy="475488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2011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egoe UI"/>
              </a:rPr>
              <a:t>ZOR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960120"/>
            <a:ext cx="11521440" cy="2194560"/>
          </a:xfrm>
          <a:prstGeom prst="rect">
            <a:avLst/>
          </a:prstGeom>
          <a:solidFill>
            <a:srgbClr val="0E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960120"/>
            <a:ext cx="73152" cy="21945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0241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Segoe UI"/>
              </a:rPr>
              <a:t>SORU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316736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RL ajanını egitmek icin kac episode/adim gerekti? Bunu nasil belirlediniz?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319272"/>
            <a:ext cx="11521440" cy="2441448"/>
          </a:xfrm>
          <a:prstGeom prst="rect">
            <a:avLst/>
          </a:prstGeom>
          <a:solidFill>
            <a:srgbClr val="00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319272"/>
            <a:ext cx="73152" cy="24414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39242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Segoe UI"/>
              </a:rPr>
              <a:t>BEKLENEN CEVAP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685032"/>
            <a:ext cx="11064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FFCC"/>
                </a:solidFill>
                <a:latin typeface="Segoe UI"/>
              </a:rPr>
              <a:t>Stable-Baselines3 PPO: total_timesteps parametresi -- ornr 100_000 veya 500_000 adim.
Belirleme yontemi:
a) Episode odul egrisi izle -- ogrenme plato yaparsa dur (early stopping benzeri)
b) Val setindeki portfoy performansini izle
c) Cok az timestep: ogrenilmemis politika. Cok fazla: overfitting riski.
Pratik: Her 10_000 adimda checkpoint kaydet, en iyi val performanslı modeli sec.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5943600"/>
            <a:ext cx="11521440" cy="749808"/>
          </a:xfrm>
          <a:prstGeom prst="rect">
            <a:avLst/>
          </a:prstGeom>
          <a:solidFill>
            <a:srgbClr val="22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5943600"/>
            <a:ext cx="73152" cy="74980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6071616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ED80"/>
                </a:solidFill>
                <a:latin typeface="Segoe UI"/>
              </a:rPr>
              <a:t>IPUCU  |  Bu cevap, 'algoritmayi anliyor musun?' testinin bir parcasi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8412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6B35"/>
                </a:solidFill>
                <a:latin typeface="Segoe UI"/>
              </a:rPr>
              <a:t>PPO &amp; Pekistirmeli Ogrenme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Juri Sorulari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011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0BEC5"/>
                </a:solidFill>
                <a:latin typeface="Segoe UI"/>
              </a:rPr>
              <a:t>Soru 10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98480" y="164592"/>
            <a:ext cx="1280160" cy="475488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2011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egoe UI"/>
              </a:rPr>
              <a:t>ZOR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960120"/>
            <a:ext cx="11521440" cy="2377440"/>
          </a:xfrm>
          <a:prstGeom prst="rect">
            <a:avLst/>
          </a:prstGeom>
          <a:solidFill>
            <a:srgbClr val="0E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960120"/>
            <a:ext cx="73152" cy="2377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0241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Segoe UI"/>
              </a:rPr>
              <a:t>SORU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316736"/>
            <a:ext cx="11064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Gymnasium ortaminizda observation space Box(0, 1, shape=(10,)) tanimladiniz. Bu neden onemli?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502152"/>
            <a:ext cx="11521440" cy="2670048"/>
          </a:xfrm>
          <a:prstGeom prst="rect">
            <a:avLst/>
          </a:prstGeom>
          <a:solidFill>
            <a:srgbClr val="00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502152"/>
            <a:ext cx="73152" cy="26700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5753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Segoe UI"/>
              </a:rPr>
              <a:t>BEKLENEN CEVAP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867912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FFCC"/>
                </a:solidFill>
                <a:latin typeface="Segoe UI"/>
              </a:rPr>
              <a:t>Gymnasium'un kontrat'ı: ajan, observation_space.contains(obs) == True bekler.
Eger gercek gozlem bu araliktan cikiyorsa: PPO dahili normalizasyonu yaniltir, NaN/inf riski.
Bu projede: tum 10 ozellik [0,1] araligina normalize edildi (min-max, oran hesaplama).
Kontrol yontemi: assert observation_space.contains(obs), _get_observation() cagrisinda.
Box limitleri sadece dokumantasyon degil -- SB3 gozlem normalizer bunlara gore calisr.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8412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6B35"/>
                </a:solidFill>
                <a:latin typeface="Segoe UI"/>
              </a:rPr>
              <a:t>PPO &amp; Pekistirmeli Ogrenme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Juri Sorulari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011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0BEC5"/>
                </a:solidFill>
                <a:latin typeface="Segoe UI"/>
              </a:rPr>
              <a:t>Soru 11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98480" y="164592"/>
            <a:ext cx="1280160" cy="475488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2011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egoe UI"/>
              </a:rPr>
              <a:t>ZOR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960120"/>
            <a:ext cx="11521440" cy="2377440"/>
          </a:xfrm>
          <a:prstGeom prst="rect">
            <a:avLst/>
          </a:prstGeom>
          <a:solidFill>
            <a:srgbClr val="0E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960120"/>
            <a:ext cx="73152" cy="2377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0241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Segoe UI"/>
              </a:rPr>
              <a:t>SORU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316736"/>
            <a:ext cx="11064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Ajan egitiminizde 'reward shaping' yaptınız mı? Bu ne demek?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502152"/>
            <a:ext cx="11521440" cy="2670048"/>
          </a:xfrm>
          <a:prstGeom prst="rect">
            <a:avLst/>
          </a:prstGeom>
          <a:solidFill>
            <a:srgbClr val="00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502152"/>
            <a:ext cx="73152" cy="26700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5753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Segoe UI"/>
              </a:rPr>
              <a:t>BEKLENEN CEVAP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867912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FFCC"/>
                </a:solidFill>
                <a:latin typeface="Segoe UI"/>
              </a:rPr>
              <a:t>Reward shaping: Ham odul sinyali zayif oldugunda, ajanin daha hizli ogrenebilecegi sekil tasarlanmis ara oduller eklemek.
Bu projede: drawdown_penalty ve trade_penalty birer reward shaping ornegidir -- ajan dogrudan hatirlamakta zorlaniyor.
Risk: Eger shaping yanlis tasarlanirsa, ajan gercek hedef yerine yapay odulu optimize eder ('reward hacking').
Ornr yanlis tasarim: Sadece 'hic islem yapma'yi odullendir -&gt; ajan hic aksiyon almaz.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8412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6B35"/>
                </a:solidFill>
                <a:latin typeface="Segoe UI"/>
              </a:rPr>
              <a:t>PPO &amp; Pekistirmeli Ogrenme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Juri Sorulari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011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0BEC5"/>
                </a:solidFill>
                <a:latin typeface="Segoe UI"/>
              </a:rPr>
              <a:t>Soru 12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98480" y="164592"/>
            <a:ext cx="1280160" cy="475488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2011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egoe UI"/>
              </a:rPr>
              <a:t>ZOR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960120"/>
            <a:ext cx="11521440" cy="2377440"/>
          </a:xfrm>
          <a:prstGeom prst="rect">
            <a:avLst/>
          </a:prstGeom>
          <a:solidFill>
            <a:srgbClr val="0E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960120"/>
            <a:ext cx="73152" cy="2377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0241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Segoe UI"/>
              </a:rPr>
              <a:t>SORU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316736"/>
            <a:ext cx="11064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Bu RL sistemini gercek zamanlı trading'e baglamak icin ne yapmanız gerekir?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502152"/>
            <a:ext cx="11521440" cy="2670048"/>
          </a:xfrm>
          <a:prstGeom prst="rect">
            <a:avLst/>
          </a:prstGeom>
          <a:solidFill>
            <a:srgbClr val="00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502152"/>
            <a:ext cx="73152" cy="26700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5753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Segoe UI"/>
              </a:rPr>
              <a:t>BEKLENEN CEVAP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867912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FFCC"/>
                </a:solidFill>
                <a:latin typeface="Segoe UI"/>
              </a:rPr>
              <a:t>En az 5 kritik adim:
1) Paper trading: Gercek API (Binance Testnet) ama sanal para ile test. En az 3 ay.
2) Risk yonetimi: Pozisyon buyukluğu limiti, stop-loss, max drawdown limiti asilinca dur.
3) Model monitoring: Concept drift tespiti -- piyasa rejimi degisince model yeniden egitilebilmeli.
4) Guvenlik: API key guvenligi, rate limiting, hata toleransi (network kesintisi).
5) Yasal uyum: Kripto trading regülasyonları ulkeye gore degisir, KYC/AML gereklilikleri.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37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39FF14"/>
                </a:solidFill>
                <a:latin typeface="Segoe UI"/>
              </a:rPr>
              <a:t>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22860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39FF14"/>
                </a:solidFill>
                <a:latin typeface="Segoe UI"/>
              </a:rPr>
              <a:t>Veri &amp; Teknik Gostergeler Sorulari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31546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0BEC5"/>
                </a:solidFill>
                <a:latin typeface="Segoe UI"/>
              </a:rPr>
              <a:t>RSI formulu | Look-ahead bias | SQLite | OHLCV | Zaman serisi split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3749039"/>
            <a:ext cx="8229600" cy="4572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8412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9FF14"/>
                </a:solidFill>
                <a:latin typeface="Segoe UI"/>
              </a:rPr>
              <a:t>Veri &amp; Teknik Gostergeler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Juri Sorulari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011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0BEC5"/>
                </a:solidFill>
                <a:latin typeface="Segoe UI"/>
              </a:rPr>
              <a:t>Soru 01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98480" y="164592"/>
            <a:ext cx="1280160" cy="47548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2011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egoe UI"/>
              </a:rPr>
              <a:t>KOLAY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960120"/>
            <a:ext cx="11521440" cy="2377440"/>
          </a:xfrm>
          <a:prstGeom prst="rect">
            <a:avLst/>
          </a:prstGeom>
          <a:solidFill>
            <a:srgbClr val="0E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960120"/>
            <a:ext cx="73152" cy="23774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0241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Segoe UI"/>
              </a:rPr>
              <a:t>SORU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316736"/>
            <a:ext cx="11064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OHLCV ne demektir? Her bilesenin anlami nedir?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502152"/>
            <a:ext cx="11521440" cy="2670048"/>
          </a:xfrm>
          <a:prstGeom prst="rect">
            <a:avLst/>
          </a:prstGeom>
          <a:solidFill>
            <a:srgbClr val="00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502152"/>
            <a:ext cx="73152" cy="26700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5753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Segoe UI"/>
              </a:rPr>
              <a:t>BEKLENEN CEVAP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867912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FFCC"/>
                </a:solidFill>
                <a:latin typeface="Segoe UI"/>
              </a:rPr>
              <a:t>O = Open (Acilis): Mum periyodunun ilk islemi
H = High (Yuksek): Periyot icerisindeki en yuksek fiyat
L = Low (Dusuk): Periyot icerisindeki en dusuk fiyat
C = Close (Kapanis): Periyot kapanisindaki son islem -- tahminlerde genellikle bu kullanilir
V = Volume (Hacim): Periyot icinde el degistiren toplam coin miktari
Binance API'de 'klines' endpoint'inden cekilir.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8412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9FF14"/>
                </a:solidFill>
                <a:latin typeface="Segoe UI"/>
              </a:rPr>
              <a:t>Veri &amp; Teknik Gostergeler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Juri Sorulari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011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0BEC5"/>
                </a:solidFill>
                <a:latin typeface="Segoe UI"/>
              </a:rPr>
              <a:t>Soru 02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98480" y="164592"/>
            <a:ext cx="1280160" cy="47548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2011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egoe UI"/>
              </a:rPr>
              <a:t>KOLAY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960120"/>
            <a:ext cx="11521440" cy="2377440"/>
          </a:xfrm>
          <a:prstGeom prst="rect">
            <a:avLst/>
          </a:prstGeom>
          <a:solidFill>
            <a:srgbClr val="0E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960120"/>
            <a:ext cx="73152" cy="23774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0241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Segoe UI"/>
              </a:rPr>
              <a:t>SORU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316736"/>
            <a:ext cx="11064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RSI 30'un altına dustugunde ne anlama gelir? 70'in uzerine cikinca ne anlama gelir?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502152"/>
            <a:ext cx="11521440" cy="2670048"/>
          </a:xfrm>
          <a:prstGeom prst="rect">
            <a:avLst/>
          </a:prstGeom>
          <a:solidFill>
            <a:srgbClr val="00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502152"/>
            <a:ext cx="73152" cy="26700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5753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Segoe UI"/>
              </a:rPr>
              <a:t>BEKLENEN CEVAP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867912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FFCC"/>
                </a:solidFill>
                <a:latin typeface="Segoe UI"/>
              </a:rPr>
              <a:t>RSI &lt; 30 = Asiri satim (oversold): Fiyat hizla dustu, muhtemelen asilarak satis yapildi -&gt; potansiyel alim firsati.
RSI &gt; 70 = Asiri alim (overbought): Fiyat hizla yukseldi, muhtemelen asili alis -&gt; potansiyel satis sinyali.
Dikkat: Bu mutlak kural degil, trend baglaminida okunmali. Guclu trendde RSI uzun sure 70 uzerinde kalabilir.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8412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9FF14"/>
                </a:solidFill>
                <a:latin typeface="Segoe UI"/>
              </a:rPr>
              <a:t>Veri &amp; Teknik Gostergeler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Juri Sorulari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011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0BEC5"/>
                </a:solidFill>
                <a:latin typeface="Segoe UI"/>
              </a:rPr>
              <a:t>Soru 03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98480" y="164592"/>
            <a:ext cx="1280160" cy="47548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2011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egoe UI"/>
              </a:rPr>
              <a:t>KOLAY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960120"/>
            <a:ext cx="11521440" cy="2377440"/>
          </a:xfrm>
          <a:prstGeom prst="rect">
            <a:avLst/>
          </a:prstGeom>
          <a:solidFill>
            <a:srgbClr val="0E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960120"/>
            <a:ext cx="73152" cy="23774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0241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Segoe UI"/>
              </a:rPr>
              <a:t>SORU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316736"/>
            <a:ext cx="11064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Neden 3 farkli zaman dilimi (1h, 4h, 1d) kullandınız?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502152"/>
            <a:ext cx="11521440" cy="2670048"/>
          </a:xfrm>
          <a:prstGeom prst="rect">
            <a:avLst/>
          </a:prstGeom>
          <a:solidFill>
            <a:srgbClr val="00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502152"/>
            <a:ext cx="73152" cy="26700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5753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Segoe UI"/>
              </a:rPr>
              <a:t>BEKLENEN CEVAP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867912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FFCC"/>
                </a:solidFill>
                <a:latin typeface="Segoe UI"/>
              </a:rPr>
              <a:t>Farkli zaman dilimleri farkli trader kitlelerine karsilik gelir:
1h: Gunluk trader (day trader) hareketleri, kisa vadeli sinyaller
4h: Swing trader -- birkaç gunluk pozisyon
1d: Pozisyon trader -- haftalik/aylik trend
Birden fazla kullanmak: Multi-timeframe analiz -- ustaki trendde altta islem (ornr gunluk yukselis trendinde 1h alim sinyali)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8412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9FF14"/>
                </a:solidFill>
                <a:latin typeface="Segoe UI"/>
              </a:rPr>
              <a:t>Veri &amp; Teknik Gostergeler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Juri Sorulari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011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0BEC5"/>
                </a:solidFill>
                <a:latin typeface="Segoe UI"/>
              </a:rPr>
              <a:t>Soru 04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98480" y="164592"/>
            <a:ext cx="1280160" cy="47548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2011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egoe UI"/>
              </a:rPr>
              <a:t>ORTA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960120"/>
            <a:ext cx="11521440" cy="2194560"/>
          </a:xfrm>
          <a:prstGeom prst="rect">
            <a:avLst/>
          </a:prstGeom>
          <a:solidFill>
            <a:srgbClr val="0E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960120"/>
            <a:ext cx="73152" cy="219456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0241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Segoe UI"/>
              </a:rPr>
              <a:t>SORU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316736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RSI hesaplamasinda Wilder smoothing (EWM alpha=1/period) kullandınız. Neden SMA kullanmadınız?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319272"/>
            <a:ext cx="11521440" cy="2441448"/>
          </a:xfrm>
          <a:prstGeom prst="rect">
            <a:avLst/>
          </a:prstGeom>
          <a:solidFill>
            <a:srgbClr val="00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319272"/>
            <a:ext cx="73152" cy="24414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39242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Segoe UI"/>
              </a:rPr>
              <a:t>BEKLENEN CEVAP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685032"/>
            <a:ext cx="11064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FFCC"/>
                </a:solidFill>
                <a:latin typeface="Segoe UI"/>
              </a:rPr>
              <a:t>SMA: Her periyodda sadece son 'period' gun kullanilir -- keskin gecis, gecmisin tam unututlmasi.
Wilder smoothing (EWM alpha=1/period): Her gune katlanan azalan agirlik -- gecmisin 'iz birakma' etkisi.
RSI'nin orginal tamiminda (J. Welles Wilder, 1978) EWM kullanilir -- daha yumuşak, gürültüye daha az duyarli.
alpha=1/14 ile: 14. gun agirlik (1-1/14)^14 ≈ 0.35, 28. gun ≈ 0.12 -- uzak gecmis hala etkili ama azalan.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5943600"/>
            <a:ext cx="11521440" cy="749808"/>
          </a:xfrm>
          <a:prstGeom prst="rect">
            <a:avLst/>
          </a:prstGeom>
          <a:solidFill>
            <a:srgbClr val="22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5943600"/>
            <a:ext cx="73152" cy="74980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6071616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ED80"/>
                </a:solidFill>
                <a:latin typeface="Segoe UI"/>
              </a:rPr>
              <a:t>IPUCU  |  Kodu gosterebilirsin: gain.ewm(alpha=1/period, adjust=False).mean()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8412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9FF14"/>
                </a:solidFill>
                <a:latin typeface="Segoe UI"/>
              </a:rPr>
              <a:t>Veri &amp; Teknik Gostergeler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Juri Sorulari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011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0BEC5"/>
                </a:solidFill>
                <a:latin typeface="Segoe UI"/>
              </a:rPr>
              <a:t>Soru 05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98480" y="164592"/>
            <a:ext cx="1280160" cy="47548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2011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egoe UI"/>
              </a:rPr>
              <a:t>ORTA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960120"/>
            <a:ext cx="11521440" cy="2377440"/>
          </a:xfrm>
          <a:prstGeom prst="rect">
            <a:avLst/>
          </a:prstGeom>
          <a:solidFill>
            <a:srgbClr val="0E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960120"/>
            <a:ext cx="73152" cy="23774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0241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Segoe UI"/>
              </a:rPr>
              <a:t>SORU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316736"/>
            <a:ext cx="11064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ATR (Average True Range) formulu nedir? True Range neden 3 degerin maksimumu?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502152"/>
            <a:ext cx="11521440" cy="2670048"/>
          </a:xfrm>
          <a:prstGeom prst="rect">
            <a:avLst/>
          </a:prstGeom>
          <a:solidFill>
            <a:srgbClr val="00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502152"/>
            <a:ext cx="73152" cy="26700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5753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Segoe UI"/>
              </a:rPr>
              <a:t>BEKLENEN CEVAP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867912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FFCC"/>
                </a:solidFill>
                <a:latin typeface="Segoe UI"/>
              </a:rPr>
              <a:t>True Range = max(H-L, |H - prev_Close|, |L - prev_Close|)
Neden max: Geceden sabaha fiyat atlama (gap) olayi olabilir. Sadece H-L bakilirsa bu gap kacirilir.
Ornr: Dun kapanis 50$, bugun H=51$, L=48.5$. H-L=2.5$. Ama prev_close gap: H-50=1$, 50-L=1.5$. Max=2.5$.
Baska ornr: Dun kapanis 55$, bugun H=52$, L=49$. H-L=3$, |H-55|=3$, |L-55|=6$. TrueRange=6$ -- gap büyük!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8412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9FF14"/>
                </a:solidFill>
                <a:latin typeface="Segoe UI"/>
              </a:rPr>
              <a:t>Veri &amp; Teknik Gostergeler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Juri Sorulari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011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0BEC5"/>
                </a:solidFill>
                <a:latin typeface="Segoe UI"/>
              </a:rPr>
              <a:t>Soru 06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98480" y="164592"/>
            <a:ext cx="1280160" cy="47548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2011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egoe UI"/>
              </a:rPr>
              <a:t>ORTA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960120"/>
            <a:ext cx="11521440" cy="2377440"/>
          </a:xfrm>
          <a:prstGeom prst="rect">
            <a:avLst/>
          </a:prstGeom>
          <a:solidFill>
            <a:srgbClr val="0E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960120"/>
            <a:ext cx="73152" cy="23774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0241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Segoe UI"/>
              </a:rPr>
              <a:t>SORU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316736"/>
            <a:ext cx="11064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VWAP neden cumsum (kumulatif) hesaplaniyor? Bu bir sorun olusturuyor mu?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502152"/>
            <a:ext cx="11521440" cy="2670048"/>
          </a:xfrm>
          <a:prstGeom prst="rect">
            <a:avLst/>
          </a:prstGeom>
          <a:solidFill>
            <a:srgbClr val="00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502152"/>
            <a:ext cx="73152" cy="26700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5753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Segoe UI"/>
              </a:rPr>
              <a:t>BEKLENEN CEVAP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867912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FFCC"/>
                </a:solidFill>
                <a:latin typeface="Segoe UI"/>
              </a:rPr>
              <a:t>Kumulatif VWAP = Σ(TP*V) / ΣV -- gun basindan o ana kadar olan tum islemlerin hacim agirlikli ortalaması.
Sorun: Uzun seriler icin VWAP zaman icinde fiyattan sapabilir -- kumulatif agirlik eski verileri de iceriyor.
Pratik etki: Model ozelligi olarak kullanildiginda bu sapma anlamli olmayabilir (normallestirilecek).
Cozum: Rolling VWAP (ornr 20 gunluk pencere) veya gunluk reset daha anlamli olabilirdi.
Bu projede basitlik icin kumulatif kullanildi, dogrudan trading sinyali olarak degil, ozellik olarak.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8412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9FF14"/>
                </a:solidFill>
                <a:latin typeface="Segoe UI"/>
              </a:rPr>
              <a:t>Veri &amp; Teknik Gostergeler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Juri Sorulari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011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0BEC5"/>
                </a:solidFill>
                <a:latin typeface="Segoe UI"/>
              </a:rPr>
              <a:t>Soru 07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98480" y="164592"/>
            <a:ext cx="1280160" cy="47548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2011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egoe UI"/>
              </a:rPr>
              <a:t>ORTA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960120"/>
            <a:ext cx="11521440" cy="2194560"/>
          </a:xfrm>
          <a:prstGeom prst="rect">
            <a:avLst/>
          </a:prstGeom>
          <a:solidFill>
            <a:srgbClr val="0E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960120"/>
            <a:ext cx="73152" cy="219456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0241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Segoe UI"/>
              </a:rPr>
              <a:t>SORU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316736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Look-ahead bias nedir? Projenizde nerede risk vardi ve nasil onde geldiniz?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319272"/>
            <a:ext cx="11521440" cy="2441448"/>
          </a:xfrm>
          <a:prstGeom prst="rect">
            <a:avLst/>
          </a:prstGeom>
          <a:solidFill>
            <a:srgbClr val="00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319272"/>
            <a:ext cx="73152" cy="24414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39242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Segoe UI"/>
              </a:rPr>
              <a:t>BEKLENEN CEVAP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685032"/>
            <a:ext cx="11064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FFCC"/>
                </a:solidFill>
                <a:latin typeface="Segoe UI"/>
              </a:rPr>
              <a:t>Look-ahead bias: Modelin egitilirken gormemesi gereken gelecek bilgiye erismesi -&gt; yaniltici performans.
Bu projede risk 1: scaler.fit_transform(X_all) -&gt; test istatistikleri egitimi etkiler.
Cozum: scaler.fit(X_train), scaler.transform(X_test) -- ayri.
Bu projede risk 2: TimeSeriesSplit yerine KFold(shuffle=True) -&gt; gelecek verinin gecmiste kullanilmasi.
Cozum: TimeSeriesSplit -- her zaman gecmis egitim, gelecek validation.
Bu projede risk 3: Bidirectional LSTM -&gt; geri yonde okuma gelecegi gorur.
Cozum: bidirectional=False.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5943600"/>
            <a:ext cx="11521440" cy="749808"/>
          </a:xfrm>
          <a:prstGeom prst="rect">
            <a:avLst/>
          </a:prstGeom>
          <a:solidFill>
            <a:srgbClr val="22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5943600"/>
            <a:ext cx="73152" cy="74980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6071616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ED80"/>
                </a:solidFill>
                <a:latin typeface="Segoe UI"/>
              </a:rPr>
              <a:t>IPUCU  |  Uc farkli look-ahead kaynagi sayabilirsen hoca cok etkilenir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8412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9FF14"/>
                </a:solidFill>
                <a:latin typeface="Segoe UI"/>
              </a:rPr>
              <a:t>Veri &amp; Teknik Gostergeler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Juri Sorulari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011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0BEC5"/>
                </a:solidFill>
                <a:latin typeface="Segoe UI"/>
              </a:rPr>
              <a:t>Soru 08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98480" y="164592"/>
            <a:ext cx="1280160" cy="47548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2011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egoe UI"/>
              </a:rPr>
              <a:t>ORTA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960120"/>
            <a:ext cx="11521440" cy="2377440"/>
          </a:xfrm>
          <a:prstGeom prst="rect">
            <a:avLst/>
          </a:prstGeom>
          <a:solidFill>
            <a:srgbClr val="0E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960120"/>
            <a:ext cx="73152" cy="23774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0241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Segoe UI"/>
              </a:rPr>
              <a:t>SORU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316736"/>
            <a:ext cx="11064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TimeSeriesSplit ile normal KFold arasindaki fark nedir? Neden normal KFold yanlis?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502152"/>
            <a:ext cx="11521440" cy="2670048"/>
          </a:xfrm>
          <a:prstGeom prst="rect">
            <a:avLst/>
          </a:prstGeom>
          <a:solidFill>
            <a:srgbClr val="00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502152"/>
            <a:ext cx="73152" cy="26700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5753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Segoe UI"/>
              </a:rPr>
              <a:t>BEKLENEN CEVAP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867912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FFCC"/>
                </a:solidFill>
                <a:latin typeface="Segoe UI"/>
              </a:rPr>
              <a:t>Normal KFold(shuffle=True): Veriyi rastgele bolumler -- gelecekteki veri egitimde, gecmiş verisi testte kullanilabilir.
Zaman serisi icin bu YASAK: Ornr 2024 Ocak verisiyle 2022 Haziran tahmin etmek -- gercek dunyada olmaz.
TimeSeriesSplit: Her fold'da egitim seti test setinden kronolojik olarak once. Klasik sliding window.
Fold 1: Egitim=[1-100], Test=[101-120]
Fold 2: Egitim=[1-120], Test=[121-140]  ...vb.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8412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9FF14"/>
                </a:solidFill>
                <a:latin typeface="Segoe UI"/>
              </a:rPr>
              <a:t>Veri &amp; Teknik Gostergeler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Juri Sorulari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011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0BEC5"/>
                </a:solidFill>
                <a:latin typeface="Segoe UI"/>
              </a:rPr>
              <a:t>Soru 09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98480" y="164592"/>
            <a:ext cx="1280160" cy="475488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2011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egoe UI"/>
              </a:rPr>
              <a:t>ZOR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960120"/>
            <a:ext cx="11521440" cy="2194560"/>
          </a:xfrm>
          <a:prstGeom prst="rect">
            <a:avLst/>
          </a:prstGeom>
          <a:solidFill>
            <a:srgbClr val="0E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960120"/>
            <a:ext cx="73152" cy="219456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0241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Segoe UI"/>
              </a:rPr>
              <a:t>SORU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316736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Teknik gostergeleri kutuphane kullanmadan sifirdan implemente ettiniz. Bu kararin avantaji ve riski ne?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319272"/>
            <a:ext cx="11521440" cy="2441448"/>
          </a:xfrm>
          <a:prstGeom prst="rect">
            <a:avLst/>
          </a:prstGeom>
          <a:solidFill>
            <a:srgbClr val="00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319272"/>
            <a:ext cx="73152" cy="24414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39242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Segoe UI"/>
              </a:rPr>
              <a:t>BEKLENEN CEVAP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685032"/>
            <a:ext cx="11064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FFCC"/>
                </a:solidFill>
                <a:latin typeface="Segoe UI"/>
              </a:rPr>
              <a:t>Avantaj:
a) Formul kontrolu: Exactness -- ornr TA-Lib RSI Wilder mi SMA mi? Bilmeden kullanilmaz.
b) Egitim: Algoritmayı gercekten anliyorsunuz.
c) Bagimlilik yok: Dış kütüphane sürüm uyumsuzluğu riski yok.
Risk:
a) Bug riski: Ortak test edilmis kutuphane yoksa matematik hatasi gizli kalabilir.
b) Edge case: NaN yonetimi, sifira bolme, eksik veri durumları.
Kontrol yontemi: TA-Lib sonuclariyla 1-2 ornek uzerinde check -- yapildi mi?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5943600"/>
            <a:ext cx="11521440" cy="749808"/>
          </a:xfrm>
          <a:prstGeom prst="rect">
            <a:avLst/>
          </a:prstGeom>
          <a:solidFill>
            <a:srgbClr val="22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5943600"/>
            <a:ext cx="73152" cy="74980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6071616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ED80"/>
                </a:solidFill>
                <a:latin typeface="Segoe UI"/>
              </a:rPr>
              <a:t>IPUCU  |  Hoca 'TA-Lib ile sonuclari karsilastirdiniz mi?' diye sorabilir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8412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9FF14"/>
                </a:solidFill>
                <a:latin typeface="Segoe UI"/>
              </a:rPr>
              <a:t>Veri &amp; Teknik Gostergeler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Juri Sorulari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011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0BEC5"/>
                </a:solidFill>
                <a:latin typeface="Segoe UI"/>
              </a:rPr>
              <a:t>Soru 10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98480" y="164592"/>
            <a:ext cx="1280160" cy="475488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2011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egoe UI"/>
              </a:rPr>
              <a:t>ZOR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960120"/>
            <a:ext cx="11521440" cy="2377440"/>
          </a:xfrm>
          <a:prstGeom prst="rect">
            <a:avLst/>
          </a:prstGeom>
          <a:solidFill>
            <a:srgbClr val="0E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960120"/>
            <a:ext cx="73152" cy="23774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0241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Segoe UI"/>
              </a:rPr>
              <a:t>SORU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316736"/>
            <a:ext cx="11064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Macd parametreleri 12/26/9. Bu sayilarin anlami ne, degistirmenin etkisi ne olur?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502152"/>
            <a:ext cx="11521440" cy="2670048"/>
          </a:xfrm>
          <a:prstGeom prst="rect">
            <a:avLst/>
          </a:prstGeom>
          <a:solidFill>
            <a:srgbClr val="00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502152"/>
            <a:ext cx="73152" cy="26700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5753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Segoe UI"/>
              </a:rPr>
              <a:t>BEKLENEN CEVAP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867912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FFCC"/>
                </a:solidFill>
                <a:latin typeface="Segoe UI"/>
              </a:rPr>
              <a:t>12: Hizli EMA periyodu (yaklasik 2 hafta, is gunu)
26: Yavas EMA periyodu (yaklasik 1 ay)
9: Sinyal hatti EMA periyodu
MACD = EMA(12) - EMA(26) -- hizli ve yavas arasindaki momentum fark.
Degistirme etkisi:
Daha kucuk (ornr 8/17/9): Daha hassas, daha fazla yanlis sinyal (noise).
Daha buyuk (ornr 19/39/9): Daha gecikmeli, daha az ama daha guvenilir sinyal.
Bu parametreler standart -- Gerald Appel tarafindan onerilen. Degistirmek icin grid search ve backtest gerekir.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8412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9FF14"/>
                </a:solidFill>
                <a:latin typeface="Segoe UI"/>
              </a:rPr>
              <a:t>Veri &amp; Teknik Gostergeler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Juri Sorulari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011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0BEC5"/>
                </a:solidFill>
                <a:latin typeface="Segoe UI"/>
              </a:rPr>
              <a:t>Soru 11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98480" y="164592"/>
            <a:ext cx="1280160" cy="475488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2011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egoe UI"/>
              </a:rPr>
              <a:t>ZOR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960120"/>
            <a:ext cx="11521440" cy="2377440"/>
          </a:xfrm>
          <a:prstGeom prst="rect">
            <a:avLst/>
          </a:prstGeom>
          <a:solidFill>
            <a:srgbClr val="0E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960120"/>
            <a:ext cx="73152" cy="23774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0241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Segoe UI"/>
              </a:rPr>
              <a:t>SORU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316736"/>
            <a:ext cx="11064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Veri toplamayi her 60 saniyede bir yapıyorsunuz. Bu polling yaklasimi websocket'ten ne farkli, tradeoff'u ne?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502152"/>
            <a:ext cx="11521440" cy="2670048"/>
          </a:xfrm>
          <a:prstGeom prst="rect">
            <a:avLst/>
          </a:prstGeom>
          <a:solidFill>
            <a:srgbClr val="00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502152"/>
            <a:ext cx="73152" cy="26700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5753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Segoe UI"/>
              </a:rPr>
              <a:t>BEKLENEN CEVAP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867912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FFCC"/>
                </a:solidFill>
                <a:latin typeface="Segoe UI"/>
              </a:rPr>
              <a:t>REST API Polling (bu projede): Her 60s'de bir HTTP istegi at, son mumu al.
Artisi: Basit, durum yonetimi yok, hata toleransi kolay.
Eksisi: 60s gecikmesi var, fazla istek (60 req/dakika), sadece kapanmiş mum alınabiliyor.
WebSocket: Sunucu her islem oldugunda push ediyor -- tick-by-tick anlık veri.
Artisi: Gercek zamanli, az istek.
Eksisi: Baglanti yonetimi, reconnect logic, buffer yonetimi gerekir -- karmasık.
Bu projedeki tercih: Kararli ML pipeline icin 1d/4h mumlar yeterli -- ws gerekmez.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8412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9FF14"/>
                </a:solidFill>
                <a:latin typeface="Segoe UI"/>
              </a:rPr>
              <a:t>Veri &amp; Teknik Gostergeler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Juri Sorulari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011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0BEC5"/>
                </a:solidFill>
                <a:latin typeface="Segoe UI"/>
              </a:rPr>
              <a:t>Soru 12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98480" y="164592"/>
            <a:ext cx="1280160" cy="475488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2011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egoe UI"/>
              </a:rPr>
              <a:t>ZOR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960120"/>
            <a:ext cx="11521440" cy="2377440"/>
          </a:xfrm>
          <a:prstGeom prst="rect">
            <a:avLst/>
          </a:prstGeom>
          <a:solidFill>
            <a:srgbClr val="0E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960120"/>
            <a:ext cx="73152" cy="23774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0241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Segoe UI"/>
              </a:rPr>
              <a:t>SORU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316736"/>
            <a:ext cx="11064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SQLite'in WAL modunun teknik calisma prensibini aciklayin.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502152"/>
            <a:ext cx="11521440" cy="2670048"/>
          </a:xfrm>
          <a:prstGeom prst="rect">
            <a:avLst/>
          </a:prstGeom>
          <a:solidFill>
            <a:srgbClr val="00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502152"/>
            <a:ext cx="73152" cy="26700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5753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Segoe UI"/>
              </a:rPr>
              <a:t>BEKLENEN CEVAP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867912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FFCC"/>
                </a:solidFill>
                <a:latin typeface="Segoe UI"/>
              </a:rPr>
              <a:t>WAL = Write-Ahead Log.
Normal (DELETE) mod: Yazarken veritabani kilitleniyor -&gt; ayni anda okuma yapilamaz.
WAL mod: Yazma islemi once ayri bir WAL dosyasına log'laniyor. Okuyucular eski durumu goruyor, yazici devam ediyor.
Checkpointing: Zaman zaman WAL dosyasi ana DB'ye birlestiriliyor.
Bu projede fayda: Dashboard (ai_dashboard.py) surekli okuyor, veri toplayici (binance_collector.py) surekli yazıyor -- ikiside bloklanmadan calisabiliyor.
Komut: PRAGMA journal_mode=WAL -- baglantig hemen aktif.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